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notesMasterIdLst>
    <p:notesMasterId r:id="rId31"/>
  </p:notesMasterIdLst>
  <p:sldIdLst>
    <p:sldId id="284" r:id="rId2"/>
    <p:sldId id="316" r:id="rId3"/>
    <p:sldId id="285" r:id="rId4"/>
    <p:sldId id="286" r:id="rId5"/>
    <p:sldId id="288" r:id="rId6"/>
    <p:sldId id="317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11" r:id="rId16"/>
    <p:sldId id="302" r:id="rId17"/>
    <p:sldId id="318" r:id="rId18"/>
    <p:sldId id="319" r:id="rId19"/>
    <p:sldId id="320" r:id="rId20"/>
    <p:sldId id="303" r:id="rId21"/>
    <p:sldId id="312" r:id="rId22"/>
    <p:sldId id="321" r:id="rId23"/>
    <p:sldId id="322" r:id="rId24"/>
    <p:sldId id="323" r:id="rId25"/>
    <p:sldId id="324" r:id="rId26"/>
    <p:sldId id="325" r:id="rId27"/>
    <p:sldId id="326" r:id="rId28"/>
    <p:sldId id="327" r:id="rId29"/>
    <p:sldId id="26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37" autoAdjust="0"/>
    <p:restoredTop sz="94674"/>
  </p:normalViewPr>
  <p:slideViewPr>
    <p:cSldViewPr snapToGrid="0">
      <p:cViewPr>
        <p:scale>
          <a:sx n="104" d="100"/>
          <a:sy n="104" d="100"/>
        </p:scale>
        <p:origin x="49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26EF6-05D1-3C46-BBAD-2BC3D3E668F2}" type="datetimeFigureOut">
              <a:rPr lang="es-CL" smtClean="0"/>
              <a:t>21-06-24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2AD51-4A89-C045-B0C4-A9FA40B9D18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977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52AD51-4A89-C045-B0C4-A9FA40B9D18A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57942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F3BC1-C76A-417F-8A95-C8BAB712C0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1494" y="1784843"/>
            <a:ext cx="336039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3100"/>
              </a:lnSpc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o Enunciado</a:t>
            </a:r>
            <a:endParaRPr lang="es-CL" dirty="0"/>
          </a:p>
        </p:txBody>
      </p:sp>
      <p:sp>
        <p:nvSpPr>
          <p:cNvPr id="7" name="Marcador de posición de imagen 2">
            <a:extLst>
              <a:ext uri="{FF2B5EF4-FFF2-40B4-BE49-F238E27FC236}">
                <a16:creationId xmlns:a16="http://schemas.microsoft.com/office/drawing/2014/main" id="{B3C9DF47-4CF1-4A90-9AD2-69DE8336FC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70078" y="1244906"/>
            <a:ext cx="4331607" cy="4597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4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L" dirty="0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44DF776D-3FD6-4D94-89A1-A72BEC9C0413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1498" y="2769078"/>
            <a:ext cx="3360390" cy="30729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3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61137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ra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34F14056-D42D-46AC-854C-0818D40C5F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070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668049"/>
            <a:ext cx="5720096" cy="2841914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2900" y="3602038"/>
            <a:ext cx="5720096" cy="2501728"/>
          </a:xfrm>
        </p:spPr>
        <p:txBody>
          <a:bodyPr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6/21/24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61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196A1AD7-6324-4CC0-9406-932CFF1B4A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22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91" r:id="rId2"/>
    <p:sldLayoutId id="214748369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0" userDrawn="1">
          <p15:clr>
            <a:srgbClr val="F26B43"/>
          </p15:clr>
        </p15:guide>
        <p15:guide id="2" pos="3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3F030CD3-FD93-4194-D7EB-6C23F50E6F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6" r="1182"/>
          <a:stretch/>
        </p:blipFill>
        <p:spPr>
          <a:xfrm>
            <a:off x="0" y="857257"/>
            <a:ext cx="9144000" cy="51434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94EDB31-1772-F875-0F57-60C12753555F}"/>
              </a:ext>
            </a:extLst>
          </p:cNvPr>
          <p:cNvSpPr txBox="1"/>
          <p:nvPr/>
        </p:nvSpPr>
        <p:spPr>
          <a:xfrm>
            <a:off x="618564" y="1933014"/>
            <a:ext cx="321384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sz="135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A0A31D-39F8-9F08-B921-F6F20E3F1D2F}"/>
              </a:ext>
            </a:extLst>
          </p:cNvPr>
          <p:cNvSpPr/>
          <p:nvPr/>
        </p:nvSpPr>
        <p:spPr>
          <a:xfrm>
            <a:off x="0" y="1608458"/>
            <a:ext cx="4620857" cy="340567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8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89BF5A-3E92-17E0-457F-6041EAD8F1A6}"/>
              </a:ext>
            </a:extLst>
          </p:cNvPr>
          <p:cNvSpPr txBox="1"/>
          <p:nvPr/>
        </p:nvSpPr>
        <p:spPr>
          <a:xfrm>
            <a:off x="346861" y="1821679"/>
            <a:ext cx="4077477" cy="1744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s-ES" sz="3000" b="1" dirty="0">
                <a:solidFill>
                  <a:schemeClr val="bg1"/>
                </a:solidFill>
              </a:rPr>
              <a:t> Reconocimiento Visual Texto e </a:t>
            </a:r>
            <a:r>
              <a:rPr lang="es-ES" sz="3000" b="1" dirty="0" err="1">
                <a:solidFill>
                  <a:schemeClr val="bg1"/>
                </a:solidFill>
              </a:rPr>
              <a:t>imágenes</a:t>
            </a:r>
            <a:r>
              <a:rPr lang="es-ES" sz="3000" b="1" dirty="0">
                <a:solidFill>
                  <a:schemeClr val="bg1"/>
                </a:solidFill>
              </a:rPr>
              <a:t> (VQA, </a:t>
            </a:r>
            <a:r>
              <a:rPr lang="es-ES" sz="3000" b="1" dirty="0" err="1">
                <a:solidFill>
                  <a:schemeClr val="bg1"/>
                </a:solidFill>
              </a:rPr>
              <a:t>Captions</a:t>
            </a:r>
            <a:r>
              <a:rPr lang="es-ES" sz="3000" b="1" dirty="0">
                <a:solidFill>
                  <a:schemeClr val="bg1"/>
                </a:solidFill>
              </a:rPr>
              <a:t>) </a:t>
            </a:r>
            <a:endParaRPr lang="es-CL" sz="30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76C441-6CD0-1A55-7643-54BC513F40CA}"/>
              </a:ext>
            </a:extLst>
          </p:cNvPr>
          <p:cNvSpPr txBox="1"/>
          <p:nvPr/>
        </p:nvSpPr>
        <p:spPr>
          <a:xfrm>
            <a:off x="346861" y="3635210"/>
            <a:ext cx="4816810" cy="271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Aplicaciones</a:t>
            </a: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de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Inteligencia</a:t>
            </a: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Artificial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</a:t>
            </a:r>
            <a:endParaRPr lang="es-CL" sz="1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41B6D3-DF8D-D14E-FA81-8EDA5312D7BB}"/>
              </a:ext>
            </a:extLst>
          </p:cNvPr>
          <p:cNvSpPr txBox="1"/>
          <p:nvPr/>
        </p:nvSpPr>
        <p:spPr>
          <a:xfrm>
            <a:off x="346861" y="4019724"/>
            <a:ext cx="4077477" cy="826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es-ES" sz="1400" dirty="0">
                <a:solidFill>
                  <a:schemeClr val="bg1"/>
                </a:solidFill>
              </a:rPr>
              <a:t>Profesor:</a:t>
            </a:r>
            <a:br>
              <a:rPr lang="es-ES" sz="1600" b="1" dirty="0">
                <a:solidFill>
                  <a:schemeClr val="bg1"/>
                </a:solidFill>
              </a:rPr>
            </a:br>
            <a:r>
              <a:rPr lang="es-ES" b="1" dirty="0">
                <a:solidFill>
                  <a:schemeClr val="bg1"/>
                </a:solidFill>
              </a:rPr>
              <a:t>Bianca Del Solar Medrano</a:t>
            </a:r>
          </a:p>
          <a:p>
            <a:pPr>
              <a:lnSpc>
                <a:spcPts val="2200"/>
              </a:lnSpc>
            </a:pPr>
            <a:r>
              <a:rPr lang="es-ES" sz="1400" dirty="0" err="1">
                <a:solidFill>
                  <a:schemeClr val="bg1"/>
                </a:solidFill>
              </a:rPr>
              <a:t>bsdelsolar@uc.cl</a:t>
            </a:r>
            <a:endParaRPr lang="es-CL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61632-C6F2-4C87-982F-FD4F39A886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7913" y="1243923"/>
            <a:ext cx="3360393" cy="641123"/>
          </a:xfrm>
        </p:spPr>
        <p:txBody>
          <a:bodyPr/>
          <a:lstStyle/>
          <a:p>
            <a:r>
              <a:rPr lang="es-CL" dirty="0"/>
              <a:t>Contenido</a:t>
            </a:r>
          </a:p>
        </p:txBody>
      </p:sp>
      <p:pic>
        <p:nvPicPr>
          <p:cNvPr id="3088" name="Picture 16" descr="Este es el precio de entrenar redes neuronales para alimentar la IA |  Computer Hoy">
            <a:extLst>
              <a:ext uri="{FF2B5EF4-FFF2-40B4-BE49-F238E27FC236}">
                <a16:creationId xmlns:a16="http://schemas.microsoft.com/office/drawing/2014/main" id="{85121B6D-F1B2-6143-25E1-3B28B1783B17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47" b="3847"/>
          <a:stretch>
            <a:fillRect/>
          </a:stretch>
        </p:blipFill>
        <p:spPr bwMode="auto">
          <a:xfrm>
            <a:off x="4290895" y="1244905"/>
            <a:ext cx="4331607" cy="459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Elipse 22">
            <a:extLst>
              <a:ext uri="{FF2B5EF4-FFF2-40B4-BE49-F238E27FC236}">
                <a16:creationId xmlns:a16="http://schemas.microsoft.com/office/drawing/2014/main" id="{158C6CD9-A445-2BC0-1C07-5FAF8527DD90}"/>
              </a:ext>
            </a:extLst>
          </p:cNvPr>
          <p:cNvSpPr>
            <a:spLocks noChangeAspect="1"/>
          </p:cNvSpPr>
          <p:nvPr/>
        </p:nvSpPr>
        <p:spPr>
          <a:xfrm>
            <a:off x="5612400" y="2349000"/>
            <a:ext cx="2160000" cy="21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4" name="Picture 20" descr="Index of /imagenes/index">
            <a:extLst>
              <a:ext uri="{FF2B5EF4-FFF2-40B4-BE49-F238E27FC236}">
                <a16:creationId xmlns:a16="http://schemas.microsoft.com/office/drawing/2014/main" id="{9A9A3097-A4F6-630E-4FCB-FF1F4C080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877" y="2398428"/>
            <a:ext cx="2892525" cy="210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530C098D-80AE-B720-DE72-D80B496E3C35}"/>
              </a:ext>
            </a:extLst>
          </p:cNvPr>
          <p:cNvSpPr/>
          <p:nvPr/>
        </p:nvSpPr>
        <p:spPr>
          <a:xfrm>
            <a:off x="521498" y="1869120"/>
            <a:ext cx="540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/>
              <a:t>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F7DD867-4E5B-B6B7-60AD-37AB00691983}"/>
              </a:ext>
            </a:extLst>
          </p:cNvPr>
          <p:cNvSpPr txBox="1"/>
          <p:nvPr/>
        </p:nvSpPr>
        <p:spPr>
          <a:xfrm>
            <a:off x="1040400" y="1946543"/>
            <a:ext cx="4456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Visual </a:t>
            </a:r>
            <a:r>
              <a:rPr lang="es-CL" b="1" dirty="0" err="1"/>
              <a:t>Question</a:t>
            </a:r>
            <a:r>
              <a:rPr lang="es-CL" b="1" dirty="0"/>
              <a:t> </a:t>
            </a:r>
            <a:r>
              <a:rPr lang="es-CL" b="1" dirty="0" err="1"/>
              <a:t>Answering</a:t>
            </a:r>
            <a:r>
              <a:rPr lang="es-CL" b="1" dirty="0"/>
              <a:t> (VQA)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448F523-7FA5-35D0-D991-D42471844E33}"/>
              </a:ext>
            </a:extLst>
          </p:cNvPr>
          <p:cNvSpPr/>
          <p:nvPr/>
        </p:nvSpPr>
        <p:spPr>
          <a:xfrm>
            <a:off x="454554" y="4125834"/>
            <a:ext cx="540000" cy="54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b="1" dirty="0"/>
              <a:t>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70096C-1A8F-DFDB-A6BC-33BA07B10286}"/>
              </a:ext>
            </a:extLst>
          </p:cNvPr>
          <p:cNvSpPr txBox="1"/>
          <p:nvPr/>
        </p:nvSpPr>
        <p:spPr>
          <a:xfrm>
            <a:off x="429057" y="2592571"/>
            <a:ext cx="4415560" cy="1455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¿Qué es Visual </a:t>
            </a:r>
            <a:r>
              <a:rPr lang="es-CL" sz="1600" dirty="0" err="1"/>
              <a:t>Question</a:t>
            </a:r>
            <a:r>
              <a:rPr lang="es-CL" sz="1600" dirty="0"/>
              <a:t> </a:t>
            </a:r>
            <a:r>
              <a:rPr lang="es-CL" sz="1600" dirty="0" err="1"/>
              <a:t>Answering</a:t>
            </a:r>
            <a:r>
              <a:rPr lang="es-CL" sz="16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¿Por qué es importante?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Conjuntos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Modelo </a:t>
            </a:r>
            <a:r>
              <a:rPr lang="es-CL" sz="1600" dirty="0" err="1"/>
              <a:t>Pythia</a:t>
            </a:r>
            <a:endParaRPr lang="es-CL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Problemas con los enfoques existentes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A92AF69-CD47-572A-8C89-FBE04B49B527}"/>
              </a:ext>
            </a:extLst>
          </p:cNvPr>
          <p:cNvSpPr txBox="1"/>
          <p:nvPr/>
        </p:nvSpPr>
        <p:spPr>
          <a:xfrm>
            <a:off x="521498" y="4849534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¿Qué 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¿Por qué es importante?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/>
              <a:t>Algunas métricas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CE1930-0583-7AF4-A517-01BEE20DD2BB}"/>
              </a:ext>
            </a:extLst>
          </p:cNvPr>
          <p:cNvSpPr txBox="1"/>
          <p:nvPr/>
        </p:nvSpPr>
        <p:spPr>
          <a:xfrm>
            <a:off x="982779" y="4075427"/>
            <a:ext cx="3336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 dirty="0"/>
              <a:t>Generación de descripciones de imágenes</a:t>
            </a:r>
          </a:p>
        </p:txBody>
      </p:sp>
    </p:spTree>
    <p:extLst>
      <p:ext uri="{BB962C8B-B14F-4D97-AF65-F5344CB8AC3E}">
        <p14:creationId xmlns:p14="http://schemas.microsoft.com/office/powerpoint/2010/main" val="2645267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9EDC5-24DE-6CEB-CEB8-9515C4100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2" y="2380370"/>
            <a:ext cx="3360393" cy="641123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¿</a:t>
            </a:r>
            <a:r>
              <a:rPr lang="es-CL" sz="2800" dirty="0"/>
              <a:t>Qué es Visual </a:t>
            </a:r>
            <a:r>
              <a:rPr lang="es-CL" sz="2800" dirty="0" err="1"/>
              <a:t>Question</a:t>
            </a:r>
            <a:r>
              <a:rPr lang="es-CL" sz="2800" dirty="0"/>
              <a:t> </a:t>
            </a:r>
            <a:r>
              <a:rPr lang="es-CL" sz="2800" dirty="0" err="1"/>
              <a:t>Answering</a:t>
            </a:r>
            <a:r>
              <a:rPr lang="es-CL" sz="2800" dirty="0"/>
              <a:t>?</a:t>
            </a:r>
            <a:br>
              <a:rPr lang="es-CL" sz="2800" dirty="0"/>
            </a:b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6B691A-BFC9-484F-3176-0AA65600553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1492" y="3377174"/>
            <a:ext cx="3360390" cy="918667"/>
          </a:xfrm>
        </p:spPr>
        <p:txBody>
          <a:bodyPr/>
          <a:lstStyle/>
          <a:p>
            <a:pPr algn="ctr"/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Dado un contexto visual (imagen), es necesario saber algo sobre él.</a:t>
            </a:r>
            <a:endParaRPr lang="es-CL" dirty="0"/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3F0DDD4D-B9DC-3701-B611-938AE87CB71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4675" r="146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BC558BE6-C828-0145-265A-1BE6C3F645BE}"/>
              </a:ext>
            </a:extLst>
          </p:cNvPr>
          <p:cNvSpPr txBox="1"/>
          <p:nvPr/>
        </p:nvSpPr>
        <p:spPr>
          <a:xfrm>
            <a:off x="1353538" y="4295841"/>
            <a:ext cx="1696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/>
              <a:t>¿Qué es eso?</a:t>
            </a:r>
          </a:p>
        </p:txBody>
      </p:sp>
      <p:pic>
        <p:nvPicPr>
          <p:cNvPr id="9" name="Picture 2" descr="Pregunta - Iconos gratis de comunicaciones">
            <a:extLst>
              <a:ext uri="{FF2B5EF4-FFF2-40B4-BE49-F238E27FC236}">
                <a16:creationId xmlns:a16="http://schemas.microsoft.com/office/drawing/2014/main" id="{49B512DA-3213-C0A0-9200-D8F7024E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798" y="4764619"/>
            <a:ext cx="899777" cy="899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191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9EDC5-24DE-6CEB-CEB8-9515C4100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2079" y="970804"/>
            <a:ext cx="6894067" cy="641123"/>
          </a:xfrm>
        </p:spPr>
        <p:txBody>
          <a:bodyPr>
            <a:normAutofit/>
          </a:bodyPr>
          <a:lstStyle/>
          <a:p>
            <a:r>
              <a:rPr lang="es-CL" dirty="0"/>
              <a:t>¿</a:t>
            </a:r>
            <a:r>
              <a:rPr lang="es-CL" sz="2800" dirty="0"/>
              <a:t>Qué es Visual </a:t>
            </a:r>
            <a:r>
              <a:rPr lang="es-CL" sz="2800" dirty="0" err="1"/>
              <a:t>Question</a:t>
            </a:r>
            <a:r>
              <a:rPr lang="es-CL" sz="2800" dirty="0"/>
              <a:t> </a:t>
            </a:r>
            <a:r>
              <a:rPr lang="es-CL" sz="2800" dirty="0" err="1"/>
              <a:t>Answering</a:t>
            </a:r>
            <a:r>
              <a:rPr lang="es-CL" sz="2800" dirty="0"/>
              <a:t>?</a:t>
            </a:r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2A486E4-768B-3809-4716-D93F6DAA8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66" y="2146435"/>
            <a:ext cx="2688737" cy="20202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C050B932-8B73-90EE-4180-B6F18336B470}"/>
              </a:ext>
            </a:extLst>
          </p:cNvPr>
          <p:cNvSpPr txBox="1"/>
          <p:nvPr/>
        </p:nvSpPr>
        <p:spPr>
          <a:xfrm>
            <a:off x="527066" y="4329653"/>
            <a:ext cx="27911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¿Qué es </a:t>
            </a:r>
            <a:r>
              <a:rPr lang="en-US" sz="2800" b="1" dirty="0" err="1"/>
              <a:t>eso</a:t>
            </a:r>
            <a:r>
              <a:rPr lang="en-US" sz="2800" b="1" dirty="0"/>
              <a:t>?</a:t>
            </a:r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AB816594-9D9B-D610-5D66-ADF75058E71E}"/>
              </a:ext>
            </a:extLst>
          </p:cNvPr>
          <p:cNvSpPr/>
          <p:nvPr/>
        </p:nvSpPr>
        <p:spPr>
          <a:xfrm rot="10800000">
            <a:off x="3318235" y="1893396"/>
            <a:ext cx="554919" cy="3071208"/>
          </a:xfrm>
          <a:prstGeom prst="leftBrace">
            <a:avLst>
              <a:gd name="adj1" fmla="val 8333"/>
              <a:gd name="adj2" fmla="val 502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b="1" dirty="0"/>
          </a:p>
        </p:txBody>
      </p:sp>
      <p:sp>
        <p:nvSpPr>
          <p:cNvPr id="10" name="Rectángulo: esquinas redondeadas 2">
            <a:extLst>
              <a:ext uri="{FF2B5EF4-FFF2-40B4-BE49-F238E27FC236}">
                <a16:creationId xmlns:a16="http://schemas.microsoft.com/office/drawing/2014/main" id="{52D88E0C-ABA6-48C7-9034-571690957ECD}"/>
              </a:ext>
            </a:extLst>
          </p:cNvPr>
          <p:cNvSpPr/>
          <p:nvPr/>
        </p:nvSpPr>
        <p:spPr>
          <a:xfrm>
            <a:off x="4142297" y="2910526"/>
            <a:ext cx="2036189" cy="10369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/>
              <a:t>VQA </a:t>
            </a:r>
            <a:r>
              <a:rPr lang="es-ES" sz="1800" b="1" dirty="0" err="1"/>
              <a:t>Model</a:t>
            </a:r>
            <a:endParaRPr lang="es-CL" sz="1800" b="1" dirty="0"/>
          </a:p>
        </p:txBody>
      </p:sp>
      <p:sp>
        <p:nvSpPr>
          <p:cNvPr id="11" name="Abrir llave 10">
            <a:extLst>
              <a:ext uri="{FF2B5EF4-FFF2-40B4-BE49-F238E27FC236}">
                <a16:creationId xmlns:a16="http://schemas.microsoft.com/office/drawing/2014/main" id="{971E7D4F-55BF-4E4F-59F9-49D415D915E1}"/>
              </a:ext>
            </a:extLst>
          </p:cNvPr>
          <p:cNvSpPr/>
          <p:nvPr/>
        </p:nvSpPr>
        <p:spPr>
          <a:xfrm>
            <a:off x="6447629" y="1893396"/>
            <a:ext cx="554919" cy="3071208"/>
          </a:xfrm>
          <a:prstGeom prst="leftBrace">
            <a:avLst>
              <a:gd name="adj1" fmla="val 8333"/>
              <a:gd name="adj2" fmla="val 502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 b="1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811334FA-2484-231B-854B-650AFCD45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348119"/>
              </p:ext>
            </p:extLst>
          </p:nvPr>
        </p:nvGraphicFramePr>
        <p:xfrm>
          <a:off x="6846849" y="2027059"/>
          <a:ext cx="1984195" cy="2743200"/>
        </p:xfrm>
        <a:graphic>
          <a:graphicData uri="http://schemas.openxmlformats.org/drawingml/2006/table">
            <a:tbl>
              <a:tblPr/>
              <a:tblGrid>
                <a:gridCol w="1260088">
                  <a:extLst>
                    <a:ext uri="{9D8B030D-6E8A-4147-A177-3AD203B41FA5}">
                      <a16:colId xmlns:a16="http://schemas.microsoft.com/office/drawing/2014/main" val="3607750556"/>
                    </a:ext>
                  </a:extLst>
                </a:gridCol>
                <a:gridCol w="724107">
                  <a:extLst>
                    <a:ext uri="{9D8B030D-6E8A-4147-A177-3AD203B41FA5}">
                      <a16:colId xmlns:a16="http://schemas.microsoft.com/office/drawing/2014/main" val="60333485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r"/>
                      <a:r>
                        <a:rPr lang="es-CL" sz="1400" b="0" dirty="0">
                          <a:effectLst/>
                        </a:rPr>
                        <a:t>Train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400" b="0" dirty="0">
                          <a:effectLst/>
                        </a:rPr>
                        <a:t>99.99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588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/>
                      <a:r>
                        <a:rPr lang="es-CL" sz="1400" b="0" dirty="0">
                          <a:effectLst/>
                        </a:rPr>
                        <a:t>Train </a:t>
                      </a:r>
                      <a:r>
                        <a:rPr lang="es-CL" sz="1400" b="0" dirty="0" err="1">
                          <a:effectLst/>
                        </a:rPr>
                        <a:t>tracks</a:t>
                      </a:r>
                      <a:endParaRPr lang="es-CL" sz="1400" b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400" b="0" dirty="0">
                          <a:effectLst/>
                        </a:rPr>
                        <a:t>0.004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35174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/>
                      <a:r>
                        <a:rPr lang="es-CL" sz="1400" b="0" dirty="0" err="1">
                          <a:effectLst/>
                        </a:rPr>
                        <a:t>Trains</a:t>
                      </a:r>
                      <a:endParaRPr lang="es-CL" sz="1400" b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400" b="0" dirty="0">
                          <a:effectLst/>
                        </a:rPr>
                        <a:t>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302601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/>
                      <a:r>
                        <a:rPr lang="es-CL" sz="1400" b="0" dirty="0" err="1">
                          <a:effectLst/>
                        </a:rPr>
                        <a:t>Countryside</a:t>
                      </a:r>
                      <a:endParaRPr lang="es-CL" sz="1400" b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400" b="0" dirty="0">
                          <a:effectLst/>
                        </a:rPr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8930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r"/>
                      <a:r>
                        <a:rPr lang="es-CL" sz="1400" b="0" dirty="0" err="1">
                          <a:effectLst/>
                        </a:rPr>
                        <a:t>Tracks</a:t>
                      </a:r>
                      <a:endParaRPr lang="es-CL" sz="1400" b="0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400" b="0" dirty="0">
                          <a:effectLst/>
                        </a:rPr>
                        <a:t>0.001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594229"/>
                  </a:ext>
                </a:extLst>
              </a:tr>
            </a:tbl>
          </a:graphicData>
        </a:graphic>
      </p:graphicFrame>
      <p:sp>
        <p:nvSpPr>
          <p:cNvPr id="13" name="Corchetes 12">
            <a:extLst>
              <a:ext uri="{FF2B5EF4-FFF2-40B4-BE49-F238E27FC236}">
                <a16:creationId xmlns:a16="http://schemas.microsoft.com/office/drawing/2014/main" id="{6299FB96-2165-0908-3257-6CFE8FD72A84}"/>
              </a:ext>
            </a:extLst>
          </p:cNvPr>
          <p:cNvSpPr/>
          <p:nvPr/>
        </p:nvSpPr>
        <p:spPr>
          <a:xfrm>
            <a:off x="4142297" y="4297952"/>
            <a:ext cx="2036189" cy="1036948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E197E2-2C27-3CFB-10E4-2D32E520C5E3}"/>
              </a:ext>
            </a:extLst>
          </p:cNvPr>
          <p:cNvSpPr txBox="1"/>
          <p:nvPr/>
        </p:nvSpPr>
        <p:spPr>
          <a:xfrm>
            <a:off x="4248347" y="4447094"/>
            <a:ext cx="1824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Necesita</a:t>
            </a:r>
            <a:r>
              <a:rPr lang="en-US" sz="1200" dirty="0"/>
              <a:t> </a:t>
            </a:r>
            <a:r>
              <a:rPr lang="en-US" sz="1200" dirty="0" err="1"/>
              <a:t>entender</a:t>
            </a:r>
            <a:r>
              <a:rPr lang="en-US" sz="1200" dirty="0"/>
              <a:t> la </a:t>
            </a:r>
            <a:r>
              <a:rPr lang="en-US" sz="1200" dirty="0" err="1"/>
              <a:t>pregunta</a:t>
            </a:r>
            <a:r>
              <a:rPr lang="en-US" sz="1200" dirty="0"/>
              <a:t> y la imagen </a:t>
            </a:r>
            <a:r>
              <a:rPr lang="en-US" sz="1200" dirty="0" err="1"/>
              <a:t>en</a:t>
            </a:r>
            <a:r>
              <a:rPr lang="en-US" sz="1200" dirty="0"/>
              <a:t> base a </a:t>
            </a:r>
            <a:r>
              <a:rPr lang="en-US" sz="1200" dirty="0" err="1"/>
              <a:t>ella</a:t>
            </a:r>
            <a:r>
              <a:rPr lang="en-US" sz="1200" dirty="0"/>
              <a:t>.</a:t>
            </a: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82F2B10B-50EA-0BB5-AC53-1DB05CBA2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056186"/>
              </p:ext>
            </p:extLst>
          </p:nvPr>
        </p:nvGraphicFramePr>
        <p:xfrm>
          <a:off x="7040464" y="2036190"/>
          <a:ext cx="1828496" cy="546754"/>
        </p:xfrm>
        <a:graphic>
          <a:graphicData uri="http://schemas.openxmlformats.org/drawingml/2006/table">
            <a:tbl>
              <a:tblPr/>
              <a:tblGrid>
                <a:gridCol w="1828496">
                  <a:extLst>
                    <a:ext uri="{9D8B030D-6E8A-4147-A177-3AD203B41FA5}">
                      <a16:colId xmlns:a16="http://schemas.microsoft.com/office/drawing/2014/main" val="1809165135"/>
                    </a:ext>
                  </a:extLst>
                </a:gridCol>
              </a:tblGrid>
              <a:tr h="546754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>
                    <a:lnL w="57150" cmpd="sng">
                      <a:solidFill>
                        <a:srgbClr val="FF0000"/>
                      </a:solidFill>
                      <a:prstDash val="solid"/>
                    </a:lnL>
                    <a:lnR w="57150" cmpd="sng">
                      <a:solidFill>
                        <a:srgbClr val="FF0000"/>
                      </a:solidFill>
                      <a:prstDash val="solid"/>
                    </a:lnR>
                    <a:lnT w="57150" cmpd="sng">
                      <a:solidFill>
                        <a:srgbClr val="FF0000"/>
                      </a:solidFill>
                      <a:prstDash val="solid"/>
                    </a:lnT>
                    <a:lnB w="57150" cmpd="sng">
                      <a:solidFill>
                        <a:srgbClr val="FF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7597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008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E15F-1A4C-B72F-C54C-B30C7E13D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8" y="890539"/>
            <a:ext cx="8110040" cy="64112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importante</a:t>
            </a:r>
            <a:r>
              <a:rPr lang="en-US" dirty="0"/>
              <a:t>? 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27FD7C-7F06-5BF5-A815-DCF3626A34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11498" y="1565854"/>
            <a:ext cx="8240665" cy="278256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s-CL" sz="2400" b="0" i="0" u="none" strike="noStrike" dirty="0">
                <a:solidFill>
                  <a:srgbClr val="000000"/>
                </a:solidFill>
                <a:effectLst/>
              </a:rPr>
              <a:t>Para mejorar la interacción con robots o asistentes personales</a:t>
            </a:r>
            <a:endParaRPr lang="es-CL" sz="2400" dirty="0"/>
          </a:p>
        </p:txBody>
      </p:sp>
      <p:pic>
        <p:nvPicPr>
          <p:cNvPr id="6" name="Imagen 5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F66E763F-F699-3D8D-41C6-1E6F5DB758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856"/>
          <a:stretch/>
        </p:blipFill>
        <p:spPr>
          <a:xfrm>
            <a:off x="2696288" y="2587214"/>
            <a:ext cx="4666268" cy="3048000"/>
          </a:xfrm>
          <a:prstGeom prst="rect">
            <a:avLst/>
          </a:prstGeom>
        </p:spPr>
      </p:pic>
      <p:sp>
        <p:nvSpPr>
          <p:cNvPr id="7" name="Bocadillo: rectángulo con esquinas redondeadas 5">
            <a:extLst>
              <a:ext uri="{FF2B5EF4-FFF2-40B4-BE49-F238E27FC236}">
                <a16:creationId xmlns:a16="http://schemas.microsoft.com/office/drawing/2014/main" id="{87E3C088-F802-A797-24DE-7C6D39B0B08D}"/>
              </a:ext>
            </a:extLst>
          </p:cNvPr>
          <p:cNvSpPr/>
          <p:nvPr/>
        </p:nvSpPr>
        <p:spPr>
          <a:xfrm>
            <a:off x="5575392" y="2938363"/>
            <a:ext cx="1989055" cy="803635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el</a:t>
            </a:r>
            <a:r>
              <a:rPr lang="en-US" sz="1600" dirty="0"/>
              <a:t> </a:t>
            </a:r>
            <a:r>
              <a:rPr lang="en-US" sz="1600" dirty="0" err="1"/>
              <a:t>canasto</a:t>
            </a:r>
            <a:r>
              <a:rPr lang="en-US" sz="1600" dirty="0"/>
              <a:t> </a:t>
            </a:r>
            <a:r>
              <a:rPr lang="en-US" sz="1600" dirty="0" err="1"/>
              <a:t>verde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la </a:t>
            </a:r>
            <a:r>
              <a:rPr lang="en-US" sz="1600" dirty="0" err="1"/>
              <a:t>lavandería</a:t>
            </a:r>
            <a:endParaRPr lang="es-CL" sz="1600" dirty="0"/>
          </a:p>
        </p:txBody>
      </p:sp>
      <p:sp>
        <p:nvSpPr>
          <p:cNvPr id="8" name="Bocadillo: rectángulo con esquinas redondeadas 6">
            <a:extLst>
              <a:ext uri="{FF2B5EF4-FFF2-40B4-BE49-F238E27FC236}">
                <a16:creationId xmlns:a16="http://schemas.microsoft.com/office/drawing/2014/main" id="{335308E2-E878-C85E-D7C5-DA8EAFB5D906}"/>
              </a:ext>
            </a:extLst>
          </p:cNvPr>
          <p:cNvSpPr/>
          <p:nvPr/>
        </p:nvSpPr>
        <p:spPr>
          <a:xfrm flipH="1">
            <a:off x="1060738" y="2434814"/>
            <a:ext cx="1989055" cy="803635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600" b="0" i="0" u="none" strike="noStrike" dirty="0">
                <a:solidFill>
                  <a:srgbClr val="000000"/>
                </a:solidFill>
                <a:effectLst/>
              </a:rPr>
              <a:t>¿Dónde están las ropas limpias?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6498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FE15F-1A4C-B72F-C54C-B30C7E13D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8" y="890539"/>
            <a:ext cx="8110040" cy="64112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¿Por </a:t>
            </a:r>
            <a:r>
              <a:rPr lang="en-US" dirty="0" err="1"/>
              <a:t>qué</a:t>
            </a:r>
            <a:r>
              <a:rPr lang="en-US" dirty="0"/>
              <a:t> es </a:t>
            </a:r>
            <a:r>
              <a:rPr lang="en-US" dirty="0" err="1"/>
              <a:t>importante</a:t>
            </a:r>
            <a:r>
              <a:rPr lang="en-US" dirty="0"/>
              <a:t>? 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927FD7C-7F06-5BF5-A815-DCF3626A34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21498" y="1734867"/>
            <a:ext cx="8240665" cy="278256"/>
          </a:xfrm>
        </p:spPr>
        <p:txBody>
          <a:bodyPr/>
          <a:lstStyle/>
          <a:p>
            <a:pPr algn="ctr"/>
            <a:r>
              <a:rPr lang="es-CL" sz="2400" b="0" i="0" u="none" strike="noStrike" dirty="0">
                <a:solidFill>
                  <a:srgbClr val="000000"/>
                </a:solidFill>
                <a:effectLst/>
              </a:rPr>
              <a:t>Para ayudar a las personas con discapacidad visual.</a:t>
            </a:r>
            <a:endParaRPr lang="es-CL" sz="1800" dirty="0"/>
          </a:p>
        </p:txBody>
      </p:sp>
      <p:pic>
        <p:nvPicPr>
          <p:cNvPr id="3" name="Imagen 2" descr="Imagen que contiene cerca, exterior, banca, parque&#10;&#10;Descripción generada automáticamente">
            <a:extLst>
              <a:ext uri="{FF2B5EF4-FFF2-40B4-BE49-F238E27FC236}">
                <a16:creationId xmlns:a16="http://schemas.microsoft.com/office/drawing/2014/main" id="{ECDBCED6-AB62-0FE8-C74A-A91C703C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977" y="2621975"/>
            <a:ext cx="4930219" cy="3285991"/>
          </a:xfrm>
          <a:prstGeom prst="rect">
            <a:avLst/>
          </a:prstGeom>
        </p:spPr>
      </p:pic>
      <p:sp>
        <p:nvSpPr>
          <p:cNvPr id="5" name="Bocadillo: rectángulo con esquinas redondeadas 3">
            <a:extLst>
              <a:ext uri="{FF2B5EF4-FFF2-40B4-BE49-F238E27FC236}">
                <a16:creationId xmlns:a16="http://schemas.microsoft.com/office/drawing/2014/main" id="{F75965DD-3F50-60E4-BFD8-00A985E023A1}"/>
              </a:ext>
            </a:extLst>
          </p:cNvPr>
          <p:cNvSpPr/>
          <p:nvPr/>
        </p:nvSpPr>
        <p:spPr>
          <a:xfrm flipH="1">
            <a:off x="3610189" y="3863152"/>
            <a:ext cx="1989055" cy="803635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Si….</a:t>
            </a:r>
          </a:p>
        </p:txBody>
      </p:sp>
      <p:sp>
        <p:nvSpPr>
          <p:cNvPr id="9" name="Bocadillo: rectángulo con esquinas redondeadas 7">
            <a:extLst>
              <a:ext uri="{FF2B5EF4-FFF2-40B4-BE49-F238E27FC236}">
                <a16:creationId xmlns:a16="http://schemas.microsoft.com/office/drawing/2014/main" id="{2B4F7D37-6D6A-D341-2AF2-70225A37A074}"/>
              </a:ext>
            </a:extLst>
          </p:cNvPr>
          <p:cNvSpPr/>
          <p:nvPr/>
        </p:nvSpPr>
        <p:spPr>
          <a:xfrm>
            <a:off x="5999886" y="2469575"/>
            <a:ext cx="1989055" cy="803635"/>
          </a:xfrm>
          <a:prstGeom prst="wedgeRoundRect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1200" b="0" i="0" u="none" strike="noStrike" dirty="0">
                <a:solidFill>
                  <a:srgbClr val="000000"/>
                </a:solidFill>
                <a:effectLst/>
              </a:rPr>
              <a:t>Es seguro aquí? ¿Puedo seguir caminando hacia adelante?</a:t>
            </a:r>
            <a:endParaRPr lang="es-CL" sz="1200" dirty="0"/>
          </a:p>
        </p:txBody>
      </p:sp>
    </p:spTree>
    <p:extLst>
      <p:ext uri="{BB962C8B-B14F-4D97-AF65-F5344CB8AC3E}">
        <p14:creationId xmlns:p14="http://schemas.microsoft.com/office/powerpoint/2010/main" val="4150236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554A41-67E4-8485-7734-CEA7373164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1516" y="191251"/>
            <a:ext cx="5226163" cy="641123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Dataset – VQAv2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BE70783-04F3-79C4-0C3F-DABB3D99C87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37689" y="1022745"/>
            <a:ext cx="8668621" cy="504287"/>
          </a:xfrm>
        </p:spPr>
        <p:txBody>
          <a:bodyPr/>
          <a:lstStyle/>
          <a:p>
            <a:r>
              <a:rPr lang="en-US" dirty="0" err="1"/>
              <a:t>Contiene</a:t>
            </a:r>
            <a:r>
              <a:rPr lang="en-US" dirty="0"/>
              <a:t> poco </a:t>
            </a:r>
            <a:r>
              <a:rPr lang="en-US" dirty="0" err="1"/>
              <a:t>más</a:t>
            </a:r>
            <a:r>
              <a:rPr lang="en-US" dirty="0"/>
              <a:t> de 204K </a:t>
            </a:r>
            <a:r>
              <a:rPr lang="en-US" dirty="0" err="1"/>
              <a:t>imágenes</a:t>
            </a:r>
            <a:r>
              <a:rPr lang="en-US" dirty="0"/>
              <a:t> de COCO, 614K </a:t>
            </a:r>
            <a:r>
              <a:rPr lang="en-US" dirty="0" err="1"/>
              <a:t>preguntas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natural de forma libre (3 </a:t>
            </a:r>
            <a:r>
              <a:rPr lang="en-US" dirty="0" err="1"/>
              <a:t>preguntas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imagen), y </a:t>
            </a:r>
            <a:r>
              <a:rPr lang="en-US" dirty="0" err="1"/>
              <a:t>más</a:t>
            </a:r>
            <a:r>
              <a:rPr lang="en-US" dirty="0"/>
              <a:t> de 6 </a:t>
            </a:r>
            <a:r>
              <a:rPr lang="en-US" dirty="0" err="1"/>
              <a:t>millones</a:t>
            </a:r>
            <a:r>
              <a:rPr lang="en-US" dirty="0"/>
              <a:t> de </a:t>
            </a:r>
            <a:r>
              <a:rPr lang="en-US" dirty="0" err="1"/>
              <a:t>respuestas</a:t>
            </a:r>
            <a:r>
              <a:rPr lang="en-US" dirty="0"/>
              <a:t> de forma libre (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concisas</a:t>
            </a:r>
            <a:r>
              <a:rPr lang="en-US" dirty="0"/>
              <a:t>) (10 </a:t>
            </a:r>
            <a:r>
              <a:rPr lang="en-US" dirty="0" err="1"/>
              <a:t>respuestas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pregunta</a:t>
            </a:r>
            <a:r>
              <a:rPr lang="en-US" dirty="0"/>
              <a:t>).</a:t>
            </a:r>
          </a:p>
          <a:p>
            <a:r>
              <a:rPr lang="en-US" dirty="0" err="1"/>
              <a:t>Contiene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de 443K pares de </a:t>
            </a:r>
            <a:r>
              <a:rPr lang="en-US" dirty="0" err="1"/>
              <a:t>entrenamiento</a:t>
            </a:r>
            <a:r>
              <a:rPr lang="en-US" dirty="0"/>
              <a:t>, 214K de </a:t>
            </a:r>
            <a:r>
              <a:rPr lang="en-US" dirty="0" err="1"/>
              <a:t>validación</a:t>
            </a:r>
            <a:r>
              <a:rPr lang="en-US" dirty="0"/>
              <a:t> y 453K de </a:t>
            </a:r>
            <a:r>
              <a:rPr lang="en-US" dirty="0" err="1"/>
              <a:t>prueba</a:t>
            </a:r>
            <a:r>
              <a:rPr lang="en-US" dirty="0"/>
              <a:t> (pares de </a:t>
            </a:r>
            <a:r>
              <a:rPr lang="en-US" dirty="0" err="1"/>
              <a:t>preguntas</a:t>
            </a:r>
            <a:r>
              <a:rPr lang="en-US" dirty="0"/>
              <a:t> e </a:t>
            </a:r>
            <a:r>
              <a:rPr lang="en-US" dirty="0" err="1"/>
              <a:t>imágenes</a:t>
            </a:r>
            <a:r>
              <a:rPr lang="en-US" dirty="0"/>
              <a:t>).</a:t>
            </a:r>
          </a:p>
          <a:p>
            <a:r>
              <a:rPr lang="en-US" dirty="0"/>
              <a:t>Para </a:t>
            </a:r>
            <a:r>
              <a:rPr lang="en-US" dirty="0" err="1"/>
              <a:t>evitar</a:t>
            </a:r>
            <a:r>
              <a:rPr lang="en-US" dirty="0"/>
              <a:t> </a:t>
            </a:r>
            <a:r>
              <a:rPr lang="en-US" dirty="0" err="1"/>
              <a:t>sesgos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y </a:t>
            </a:r>
            <a:r>
              <a:rPr lang="en-US" dirty="0" err="1"/>
              <a:t>aumentar</a:t>
            </a:r>
            <a:r>
              <a:rPr lang="en-US" dirty="0"/>
              <a:t> la </a:t>
            </a:r>
            <a:r>
              <a:rPr lang="en-US" dirty="0" err="1"/>
              <a:t>robustez</a:t>
            </a:r>
            <a:r>
              <a:rPr lang="en-US" dirty="0"/>
              <a:t> del </a:t>
            </a:r>
            <a:r>
              <a:rPr lang="en-US" dirty="0" err="1"/>
              <a:t>sistema</a:t>
            </a:r>
            <a:r>
              <a:rPr lang="en-US" dirty="0"/>
              <a:t>:</a:t>
            </a:r>
          </a:p>
          <a:p>
            <a:pPr algn="just"/>
            <a:r>
              <a:rPr lang="en-US" dirty="0"/>
              <a:t>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triplete</a:t>
            </a:r>
            <a:r>
              <a:rPr lang="en-US" dirty="0"/>
              <a:t> (imagen (I), </a:t>
            </a:r>
            <a:r>
              <a:rPr lang="en-US" dirty="0" err="1"/>
              <a:t>pregunta</a:t>
            </a:r>
            <a:r>
              <a:rPr lang="en-US" dirty="0"/>
              <a:t> (Q), </a:t>
            </a:r>
            <a:r>
              <a:rPr lang="en-US" dirty="0" err="1"/>
              <a:t>respuesta</a:t>
            </a:r>
            <a:r>
              <a:rPr lang="en-US" dirty="0"/>
              <a:t> (A))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conjunto de </a:t>
            </a:r>
            <a:r>
              <a:rPr lang="en-US" dirty="0" err="1"/>
              <a:t>datos</a:t>
            </a:r>
            <a:r>
              <a:rPr lang="en-US" dirty="0"/>
              <a:t> VQA, </a:t>
            </a:r>
            <a:r>
              <a:rPr lang="en-US" dirty="0" err="1"/>
              <a:t>identifican</a:t>
            </a:r>
            <a:r>
              <a:rPr lang="en-US" dirty="0"/>
              <a:t> </a:t>
            </a:r>
            <a:r>
              <a:rPr lang="en-US" dirty="0" err="1"/>
              <a:t>otra</a:t>
            </a:r>
            <a:r>
              <a:rPr lang="en-US" dirty="0"/>
              <a:t> imagen que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cerca</a:t>
            </a:r>
            <a:r>
              <a:rPr lang="en-US" dirty="0"/>
              <a:t> de I </a:t>
            </a:r>
            <a:r>
              <a:rPr lang="en-US" dirty="0" err="1"/>
              <a:t>pero</a:t>
            </a:r>
            <a:r>
              <a:rPr lang="en-US" dirty="0"/>
              <a:t> que </a:t>
            </a:r>
            <a:r>
              <a:rPr lang="en-US" dirty="0" err="1"/>
              <a:t>resulta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respuesta</a:t>
            </a:r>
            <a:r>
              <a:rPr lang="en-US" dirty="0"/>
              <a:t> </a:t>
            </a:r>
            <a:r>
              <a:rPr lang="en-US" dirty="0" err="1"/>
              <a:t>diferente</a:t>
            </a:r>
            <a:r>
              <a:rPr lang="en-US" dirty="0"/>
              <a:t> a la </a:t>
            </a:r>
            <a:r>
              <a:rPr lang="en-US" dirty="0" err="1"/>
              <a:t>pregunta</a:t>
            </a:r>
            <a:r>
              <a:rPr lang="en-US" dirty="0"/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F82635-B04E-19D1-664D-857037798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42" y="3225543"/>
            <a:ext cx="6016716" cy="266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59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040" y="1392413"/>
            <a:ext cx="3360393" cy="641123"/>
          </a:xfrm>
        </p:spPr>
        <p:txBody>
          <a:bodyPr/>
          <a:lstStyle/>
          <a:p>
            <a:r>
              <a:rPr lang="es-ES" dirty="0"/>
              <a:t>Dataset – VQAv2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0C471C-F9FB-A7E8-B429-E390B8D30F6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435575" y="1117647"/>
            <a:ext cx="3916687" cy="1190656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sz="1800" dirty="0"/>
              <a:t>Para </a:t>
            </a:r>
            <a:r>
              <a:rPr lang="en-US" sz="1800" dirty="0" err="1"/>
              <a:t>evitar</a:t>
            </a:r>
            <a:r>
              <a:rPr lang="en-US" sz="1800" dirty="0"/>
              <a:t> </a:t>
            </a:r>
            <a:r>
              <a:rPr lang="en-US" sz="1800" dirty="0" err="1"/>
              <a:t>sesgos</a:t>
            </a:r>
            <a:r>
              <a:rPr lang="en-US" sz="1800" dirty="0"/>
              <a:t> de </a:t>
            </a:r>
            <a:r>
              <a:rPr lang="en-US" sz="1800" dirty="0" err="1"/>
              <a:t>lenguaje</a:t>
            </a:r>
            <a:r>
              <a:rPr lang="en-US" sz="1800" dirty="0"/>
              <a:t> y </a:t>
            </a:r>
            <a:r>
              <a:rPr lang="en-US" sz="1800" dirty="0" err="1"/>
              <a:t>aumentar</a:t>
            </a:r>
            <a:r>
              <a:rPr lang="en-US" sz="1800" dirty="0"/>
              <a:t> la </a:t>
            </a:r>
            <a:r>
              <a:rPr lang="en-US" sz="1800" dirty="0" err="1"/>
              <a:t>robustez</a:t>
            </a:r>
            <a:r>
              <a:rPr lang="en-US" sz="1800" dirty="0"/>
              <a:t> del </a:t>
            </a:r>
            <a:r>
              <a:rPr lang="en-US" sz="1800" dirty="0" err="1"/>
              <a:t>sistema</a:t>
            </a:r>
            <a:r>
              <a:rPr lang="en-US" sz="1800" dirty="0"/>
              <a:t>:</a:t>
            </a:r>
          </a:p>
          <a:p>
            <a:pPr algn="just">
              <a:lnSpc>
                <a:spcPct val="100000"/>
              </a:lnSpc>
            </a:pPr>
            <a:r>
              <a:rPr lang="en-US" sz="1800" dirty="0" err="1"/>
              <a:t>Proponer</a:t>
            </a:r>
            <a:r>
              <a:rPr lang="en-US" sz="1800" dirty="0"/>
              <a:t> un conjunto de </a:t>
            </a:r>
            <a:r>
              <a:rPr lang="en-US" sz="1800" dirty="0" err="1"/>
              <a:t>datos</a:t>
            </a:r>
            <a:r>
              <a:rPr lang="en-US" sz="1800" dirty="0"/>
              <a:t> </a:t>
            </a:r>
            <a:r>
              <a:rPr lang="en-US" sz="1800" dirty="0" err="1"/>
              <a:t>equilibrado</a:t>
            </a:r>
            <a:r>
              <a:rPr lang="en-US" sz="180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42AF10-08A6-5683-F3A1-144C87B0E7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88"/>
          <a:stretch/>
        </p:blipFill>
        <p:spPr>
          <a:xfrm>
            <a:off x="346435" y="2882246"/>
            <a:ext cx="8568965" cy="3003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40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8" y="903896"/>
            <a:ext cx="3360393" cy="641123"/>
          </a:xfrm>
        </p:spPr>
        <p:txBody>
          <a:bodyPr>
            <a:normAutofit fontScale="90000"/>
          </a:bodyPr>
          <a:lstStyle/>
          <a:p>
            <a:r>
              <a:rPr lang="en-US" dirty="0"/>
              <a:t>VQA Model - Pythia</a:t>
            </a:r>
            <a:endParaRPr lang="es-CL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0C471C-F9FB-A7E8-B429-E390B8D30F6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68094" y="1447800"/>
            <a:ext cx="8607812" cy="103331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Pythia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Se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basa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el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modelo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abajo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hacia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arriba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y de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arriba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hacia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abajo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(up-down) con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pocos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pero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importantes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cambios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para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mejorar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el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rendimiento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pic>
        <p:nvPicPr>
          <p:cNvPr id="3" name="Imagen 2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2EB5E497-9765-FDA2-D0BE-530072FB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3025019"/>
            <a:ext cx="8763000" cy="160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777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1">
            <a:extLst>
              <a:ext uri="{FF2B5EF4-FFF2-40B4-BE49-F238E27FC236}">
                <a16:creationId xmlns:a16="http://schemas.microsoft.com/office/drawing/2014/main" id="{11C33C89-8A9F-95D6-A5B0-C146EDC0C130}"/>
              </a:ext>
            </a:extLst>
          </p:cNvPr>
          <p:cNvSpPr/>
          <p:nvPr/>
        </p:nvSpPr>
        <p:spPr>
          <a:xfrm>
            <a:off x="67818" y="1990123"/>
            <a:ext cx="2903456" cy="133939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Google Shape;72;p10">
            <a:extLst>
              <a:ext uri="{FF2B5EF4-FFF2-40B4-BE49-F238E27FC236}">
                <a16:creationId xmlns:a16="http://schemas.microsoft.com/office/drawing/2014/main" id="{24E7666A-1216-4B46-4714-178DC2843F7F}"/>
              </a:ext>
            </a:extLst>
          </p:cNvPr>
          <p:cNvSpPr txBox="1">
            <a:spLocks/>
          </p:cNvSpPr>
          <p:nvPr/>
        </p:nvSpPr>
        <p:spPr>
          <a:xfrm>
            <a:off x="251894" y="642917"/>
            <a:ext cx="8839200" cy="9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pic>
        <p:nvPicPr>
          <p:cNvPr id="11" name="Imagen 10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014658C1-4540-5101-BA17-0C78DA3F6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5" y="1578898"/>
            <a:ext cx="8763000" cy="1607807"/>
          </a:xfrm>
          <a:prstGeom prst="rect">
            <a:avLst/>
          </a:prstGeom>
        </p:spPr>
      </p:pic>
      <p:grpSp>
        <p:nvGrpSpPr>
          <p:cNvPr id="37" name="Grupo 36">
            <a:extLst>
              <a:ext uri="{FF2B5EF4-FFF2-40B4-BE49-F238E27FC236}">
                <a16:creationId xmlns:a16="http://schemas.microsoft.com/office/drawing/2014/main" id="{9B07D201-D736-CB27-04F7-F3C5189C1E89}"/>
              </a:ext>
            </a:extLst>
          </p:cNvPr>
          <p:cNvGrpSpPr/>
          <p:nvPr/>
        </p:nvGrpSpPr>
        <p:grpSpPr>
          <a:xfrm>
            <a:off x="438557" y="3774830"/>
            <a:ext cx="6717457" cy="1889078"/>
            <a:chOff x="576502" y="4370434"/>
            <a:chExt cx="6717457" cy="1889078"/>
          </a:xfrm>
        </p:grpSpPr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AF28EB44-40B3-C326-426B-B5DBCC3EAEEE}"/>
                </a:ext>
              </a:extLst>
            </p:cNvPr>
            <p:cNvGrpSpPr/>
            <p:nvPr/>
          </p:nvGrpSpPr>
          <p:grpSpPr>
            <a:xfrm>
              <a:off x="576502" y="4370434"/>
              <a:ext cx="2097736" cy="1570797"/>
              <a:chOff x="576502" y="4370434"/>
              <a:chExt cx="2097736" cy="1570797"/>
            </a:xfrm>
          </p:grpSpPr>
          <p:pic>
            <p:nvPicPr>
              <p:cNvPr id="12" name="Imagen 11">
                <a:extLst>
                  <a:ext uri="{FF2B5EF4-FFF2-40B4-BE49-F238E27FC236}">
                    <a16:creationId xmlns:a16="http://schemas.microsoft.com/office/drawing/2014/main" id="{D8158C7C-79CB-4BF3-B408-D2CB899E65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502" y="4370434"/>
                <a:ext cx="2090602" cy="1570797"/>
              </a:xfrm>
              <a:prstGeom prst="rect">
                <a:avLst/>
              </a:prstGeom>
            </p:spPr>
          </p:pic>
          <p:sp>
            <p:nvSpPr>
              <p:cNvPr id="13" name="Rectángulo 12">
                <a:extLst>
                  <a:ext uri="{FF2B5EF4-FFF2-40B4-BE49-F238E27FC236}">
                    <a16:creationId xmlns:a16="http://schemas.microsoft.com/office/drawing/2014/main" id="{1805CC8E-7778-9928-6EAC-52634D1F1D71}"/>
                  </a:ext>
                </a:extLst>
              </p:cNvPr>
              <p:cNvSpPr/>
              <p:nvPr/>
            </p:nvSpPr>
            <p:spPr>
              <a:xfrm>
                <a:off x="1070335" y="4543232"/>
                <a:ext cx="1102936" cy="1121790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73F897B-C351-140B-4CEE-39A575354D59}"/>
                  </a:ext>
                </a:extLst>
              </p:cNvPr>
              <p:cNvSpPr/>
              <p:nvPr/>
            </p:nvSpPr>
            <p:spPr>
              <a:xfrm>
                <a:off x="1881935" y="5282452"/>
                <a:ext cx="606065" cy="627919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15" name="Rectángulo 14">
                <a:extLst>
                  <a:ext uri="{FF2B5EF4-FFF2-40B4-BE49-F238E27FC236}">
                    <a16:creationId xmlns:a16="http://schemas.microsoft.com/office/drawing/2014/main" id="{78FB3827-65A4-5DFD-A234-1BD23CB1D250}"/>
                  </a:ext>
                </a:extLst>
              </p:cNvPr>
              <p:cNvSpPr/>
              <p:nvPr/>
            </p:nvSpPr>
            <p:spPr>
              <a:xfrm>
                <a:off x="593352" y="4734475"/>
                <a:ext cx="606065" cy="627919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16" name="Rectángulo 15">
                <a:extLst>
                  <a:ext uri="{FF2B5EF4-FFF2-40B4-BE49-F238E27FC236}">
                    <a16:creationId xmlns:a16="http://schemas.microsoft.com/office/drawing/2014/main" id="{8982B8E7-D0AE-BB0A-AD82-BFEB19E8C150}"/>
                  </a:ext>
                </a:extLst>
              </p:cNvPr>
              <p:cNvSpPr/>
              <p:nvPr/>
            </p:nvSpPr>
            <p:spPr>
              <a:xfrm>
                <a:off x="2068173" y="4578333"/>
                <a:ext cx="606065" cy="627919"/>
              </a:xfrm>
              <a:prstGeom prst="rect">
                <a:avLst/>
              </a:prstGeom>
              <a:noFill/>
              <a:ln w="28575" cap="flat" cmpd="sng" algn="ctr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7" name="Diagrama de flujo: proceso 9">
              <a:extLst>
                <a:ext uri="{FF2B5EF4-FFF2-40B4-BE49-F238E27FC236}">
                  <a16:creationId xmlns:a16="http://schemas.microsoft.com/office/drawing/2014/main" id="{6D85791B-E590-E0E2-F2C2-95AAEC570F9C}"/>
                </a:ext>
              </a:extLst>
            </p:cNvPr>
            <p:cNvSpPr/>
            <p:nvPr/>
          </p:nvSpPr>
          <p:spPr>
            <a:xfrm>
              <a:off x="4072380" y="4578333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8" name="Diagrama de flujo: proceso 11">
              <a:extLst>
                <a:ext uri="{FF2B5EF4-FFF2-40B4-BE49-F238E27FC236}">
                  <a16:creationId xmlns:a16="http://schemas.microsoft.com/office/drawing/2014/main" id="{F056FA42-6C19-1900-F3EA-0F897AF5E0B8}"/>
                </a:ext>
              </a:extLst>
            </p:cNvPr>
            <p:cNvSpPr/>
            <p:nvPr/>
          </p:nvSpPr>
          <p:spPr>
            <a:xfrm>
              <a:off x="4224780" y="4730733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9" name="Diagrama de flujo: proceso 13">
              <a:extLst>
                <a:ext uri="{FF2B5EF4-FFF2-40B4-BE49-F238E27FC236}">
                  <a16:creationId xmlns:a16="http://schemas.microsoft.com/office/drawing/2014/main" id="{85646E16-4711-BD78-A768-1447B9466C37}"/>
                </a:ext>
              </a:extLst>
            </p:cNvPr>
            <p:cNvSpPr/>
            <p:nvPr/>
          </p:nvSpPr>
          <p:spPr>
            <a:xfrm>
              <a:off x="4377180" y="4883133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Diagrama de flujo: proceso 15">
              <a:extLst>
                <a:ext uri="{FF2B5EF4-FFF2-40B4-BE49-F238E27FC236}">
                  <a16:creationId xmlns:a16="http://schemas.microsoft.com/office/drawing/2014/main" id="{CE7A6E8C-CA98-994E-FB22-6952A9446C6D}"/>
                </a:ext>
              </a:extLst>
            </p:cNvPr>
            <p:cNvSpPr/>
            <p:nvPr/>
          </p:nvSpPr>
          <p:spPr>
            <a:xfrm>
              <a:off x="6411334" y="4565456"/>
              <a:ext cx="188535" cy="1258843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F7D1CEA8-3B09-D355-9BBD-AB2C284222D1}"/>
                </a:ext>
              </a:extLst>
            </p:cNvPr>
            <p:cNvCxnSpPr/>
            <p:nvPr/>
          </p:nvCxnSpPr>
          <p:spPr>
            <a:xfrm>
              <a:off x="2855789" y="5206252"/>
              <a:ext cx="1027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de flecha 21">
              <a:extLst>
                <a:ext uri="{FF2B5EF4-FFF2-40B4-BE49-F238E27FC236}">
                  <a16:creationId xmlns:a16="http://schemas.microsoft.com/office/drawing/2014/main" id="{F66E80EF-C71E-B20D-A8F7-E5EB855A6CFE}"/>
                </a:ext>
              </a:extLst>
            </p:cNvPr>
            <p:cNvCxnSpPr/>
            <p:nvPr/>
          </p:nvCxnSpPr>
          <p:spPr>
            <a:xfrm>
              <a:off x="5289902" y="5211752"/>
              <a:ext cx="102755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Abrir llave 22">
              <a:extLst>
                <a:ext uri="{FF2B5EF4-FFF2-40B4-BE49-F238E27FC236}">
                  <a16:creationId xmlns:a16="http://schemas.microsoft.com/office/drawing/2014/main" id="{CB41E41C-2DC2-7913-F4D4-8EB6B141D29F}"/>
                </a:ext>
              </a:extLst>
            </p:cNvPr>
            <p:cNvSpPr/>
            <p:nvPr/>
          </p:nvSpPr>
          <p:spPr>
            <a:xfrm rot="16200000">
              <a:off x="4195958" y="5470115"/>
              <a:ext cx="252115" cy="69895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330587BC-D566-315A-0706-30DE7FDFBA3E}"/>
                </a:ext>
              </a:extLst>
            </p:cNvPr>
            <p:cNvSpPr txBox="1"/>
            <p:nvPr/>
          </p:nvSpPr>
          <p:spPr>
            <a:xfrm>
              <a:off x="4262880" y="5951735"/>
              <a:ext cx="457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K</a:t>
              </a:r>
              <a:endParaRPr lang="es-CL" dirty="0"/>
            </a:p>
          </p:txBody>
        </p:sp>
        <p:sp>
          <p:nvSpPr>
            <p:cNvPr id="25" name="Abrir llave 24">
              <a:extLst>
                <a:ext uri="{FF2B5EF4-FFF2-40B4-BE49-F238E27FC236}">
                  <a16:creationId xmlns:a16="http://schemas.microsoft.com/office/drawing/2014/main" id="{5F7819F0-BF4A-BC61-4E79-B0CE8A09108B}"/>
                </a:ext>
              </a:extLst>
            </p:cNvPr>
            <p:cNvSpPr/>
            <p:nvPr/>
          </p:nvSpPr>
          <p:spPr>
            <a:xfrm rot="10800000">
              <a:off x="4730687" y="4883132"/>
              <a:ext cx="259705" cy="83664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CC0B629F-109C-9293-9DE2-599C0657EDA7}"/>
                </a:ext>
              </a:extLst>
            </p:cNvPr>
            <p:cNvSpPr txBox="1"/>
            <p:nvPr/>
          </p:nvSpPr>
          <p:spPr>
            <a:xfrm rot="5400000">
              <a:off x="4677456" y="5141561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2048</a:t>
              </a:r>
              <a:endParaRPr lang="es-CL" dirty="0"/>
            </a:p>
          </p:txBody>
        </p:sp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291DC043-E2D8-4697-4DA3-BA5613A34BDA}"/>
                </a:ext>
              </a:extLst>
            </p:cNvPr>
            <p:cNvSpPr/>
            <p:nvPr/>
          </p:nvSpPr>
          <p:spPr>
            <a:xfrm rot="10800000">
              <a:off x="4730687" y="4883133"/>
              <a:ext cx="259705" cy="83664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3405218E-1ABF-D5B5-C456-B7B63966033E}"/>
                </a:ext>
              </a:extLst>
            </p:cNvPr>
            <p:cNvSpPr txBox="1"/>
            <p:nvPr/>
          </p:nvSpPr>
          <p:spPr>
            <a:xfrm rot="5400000">
              <a:off x="4677456" y="5141562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2048</a:t>
              </a:r>
              <a:endParaRPr lang="es-CL" dirty="0"/>
            </a:p>
          </p:txBody>
        </p:sp>
        <p:sp>
          <p:nvSpPr>
            <p:cNvPr id="29" name="Abrir llave 28">
              <a:extLst>
                <a:ext uri="{FF2B5EF4-FFF2-40B4-BE49-F238E27FC236}">
                  <a16:creationId xmlns:a16="http://schemas.microsoft.com/office/drawing/2014/main" id="{6FDF4F58-0414-CE37-3039-C42DD1ECB47C}"/>
                </a:ext>
              </a:extLst>
            </p:cNvPr>
            <p:cNvSpPr/>
            <p:nvPr/>
          </p:nvSpPr>
          <p:spPr>
            <a:xfrm rot="10800000">
              <a:off x="6669512" y="4510278"/>
              <a:ext cx="324473" cy="1367140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05CEC1B-30C3-2D21-917E-FB46484053D8}"/>
                </a:ext>
              </a:extLst>
            </p:cNvPr>
            <p:cNvSpPr txBox="1"/>
            <p:nvPr/>
          </p:nvSpPr>
          <p:spPr>
            <a:xfrm rot="5400000">
              <a:off x="6431193" y="5019411"/>
              <a:ext cx="14177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2048K</a:t>
              </a:r>
              <a:endParaRPr lang="es-CL" dirty="0"/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2BEDCC6-364D-2F91-0873-046046247431}"/>
              </a:ext>
            </a:extLst>
          </p:cNvPr>
          <p:cNvSpPr txBox="1"/>
          <p:nvPr/>
        </p:nvSpPr>
        <p:spPr>
          <a:xfrm>
            <a:off x="632951" y="5366072"/>
            <a:ext cx="17958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/>
              <a:t>Obtener propuestas de los objetos en la imagen</a:t>
            </a:r>
            <a:endParaRPr lang="es-CL" sz="1400" dirty="0"/>
          </a:p>
        </p:txBody>
      </p:sp>
      <p:sp>
        <p:nvSpPr>
          <p:cNvPr id="32" name="Abrir llave 31">
            <a:extLst>
              <a:ext uri="{FF2B5EF4-FFF2-40B4-BE49-F238E27FC236}">
                <a16:creationId xmlns:a16="http://schemas.microsoft.com/office/drawing/2014/main" id="{1F6E62CA-6418-823B-B15E-6E413961C9FA}"/>
              </a:ext>
            </a:extLst>
          </p:cNvPr>
          <p:cNvSpPr/>
          <p:nvPr/>
        </p:nvSpPr>
        <p:spPr>
          <a:xfrm rot="5400000">
            <a:off x="3536868" y="111428"/>
            <a:ext cx="520836" cy="7226142"/>
          </a:xfrm>
          <a:prstGeom prst="leftBrace">
            <a:avLst>
              <a:gd name="adj1" fmla="val 8333"/>
              <a:gd name="adj2" fmla="val 832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Google Shape;67;p9">
            <a:extLst>
              <a:ext uri="{FF2B5EF4-FFF2-40B4-BE49-F238E27FC236}">
                <a16:creationId xmlns:a16="http://schemas.microsoft.com/office/drawing/2014/main" id="{3D7D099C-7737-9E39-3C7C-CED14216FAF4}"/>
              </a:ext>
            </a:extLst>
          </p:cNvPr>
          <p:cNvSpPr txBox="1">
            <a:spLocks/>
          </p:cNvSpPr>
          <p:nvPr/>
        </p:nvSpPr>
        <p:spPr>
          <a:xfrm>
            <a:off x="6114675" y="6625341"/>
            <a:ext cx="3081600" cy="2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ES" dirty="0">
                <a:solidFill>
                  <a:schemeClr val="bg1"/>
                </a:solidFill>
              </a:rPr>
              <a:t>12/35</a:t>
            </a:r>
          </a:p>
        </p:txBody>
      </p:sp>
    </p:spTree>
    <p:extLst>
      <p:ext uri="{BB962C8B-B14F-4D97-AF65-F5344CB8AC3E}">
        <p14:creationId xmlns:p14="http://schemas.microsoft.com/office/powerpoint/2010/main" val="273887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3B809697-7E86-E466-1B8E-0918595AF62D}"/>
              </a:ext>
            </a:extLst>
          </p:cNvPr>
          <p:cNvGrpSpPr/>
          <p:nvPr/>
        </p:nvGrpSpPr>
        <p:grpSpPr>
          <a:xfrm>
            <a:off x="190500" y="1698823"/>
            <a:ext cx="8801102" cy="3930025"/>
            <a:chOff x="190500" y="1735894"/>
            <a:chExt cx="8801102" cy="3930025"/>
          </a:xfrm>
        </p:grpSpPr>
        <p:sp>
          <p:nvSpPr>
            <p:cNvPr id="18" name="Rectángulo: esquinas redondeadas 1">
              <a:extLst>
                <a:ext uri="{FF2B5EF4-FFF2-40B4-BE49-F238E27FC236}">
                  <a16:creationId xmlns:a16="http://schemas.microsoft.com/office/drawing/2014/main" id="{540EB2D4-A2F7-BD99-6329-AFBF3A3B7AC8}"/>
                </a:ext>
              </a:extLst>
            </p:cNvPr>
            <p:cNvSpPr/>
            <p:nvPr/>
          </p:nvSpPr>
          <p:spPr>
            <a:xfrm>
              <a:off x="190500" y="3905712"/>
              <a:ext cx="3019030" cy="66969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pic>
          <p:nvPicPr>
            <p:cNvPr id="19" name="Imagen 18" descr="Interfaz de usuario gráfica&#10;&#10;Descripción generada automáticamente">
              <a:extLst>
                <a:ext uri="{FF2B5EF4-FFF2-40B4-BE49-F238E27FC236}">
                  <a16:creationId xmlns:a16="http://schemas.microsoft.com/office/drawing/2014/main" id="{FA5CA2A2-3D5E-3C2D-81B7-0B947A93F1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" y="4058112"/>
              <a:ext cx="8763000" cy="1607807"/>
            </a:xfrm>
            <a:prstGeom prst="rect">
              <a:avLst/>
            </a:prstGeom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26D309C-E84D-D71C-ABB5-EDB3BD99B494}"/>
                </a:ext>
              </a:extLst>
            </p:cNvPr>
            <p:cNvSpPr txBox="1"/>
            <p:nvPr/>
          </p:nvSpPr>
          <p:spPr>
            <a:xfrm>
              <a:off x="228600" y="2724312"/>
              <a:ext cx="181910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What is this?</a:t>
              </a:r>
            </a:p>
          </p:txBody>
        </p:sp>
        <p:sp>
          <p:nvSpPr>
            <p:cNvPr id="21" name="Abrir llave 20">
              <a:extLst>
                <a:ext uri="{FF2B5EF4-FFF2-40B4-BE49-F238E27FC236}">
                  <a16:creationId xmlns:a16="http://schemas.microsoft.com/office/drawing/2014/main" id="{45CBBA28-651A-7D54-C6F5-810020793353}"/>
                </a:ext>
              </a:extLst>
            </p:cNvPr>
            <p:cNvSpPr/>
            <p:nvPr/>
          </p:nvSpPr>
          <p:spPr>
            <a:xfrm rot="16200000">
              <a:off x="4349684" y="-757470"/>
              <a:ext cx="520836" cy="8763001"/>
            </a:xfrm>
            <a:prstGeom prst="leftBrace">
              <a:avLst>
                <a:gd name="adj1" fmla="val 8333"/>
                <a:gd name="adj2" fmla="val 19174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FB1F4BBB-32CC-66D0-BCD9-97064183D6F5}"/>
                </a:ext>
              </a:extLst>
            </p:cNvPr>
            <p:cNvSpPr txBox="1"/>
            <p:nvPr/>
          </p:nvSpPr>
          <p:spPr>
            <a:xfrm>
              <a:off x="2286000" y="2520923"/>
              <a:ext cx="285381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“What”, “is”, “this”, “pad”, “pad”, …, “pad”</a:t>
              </a: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9EE28D27-379D-EB95-76D8-EFA8B0560321}"/>
                </a:ext>
              </a:extLst>
            </p:cNvPr>
            <p:cNvCxnSpPr/>
            <p:nvPr/>
          </p:nvCxnSpPr>
          <p:spPr>
            <a:xfrm>
              <a:off x="1845276" y="2893589"/>
              <a:ext cx="626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iagrama de flujo: proceso 19">
              <a:extLst>
                <a:ext uri="{FF2B5EF4-FFF2-40B4-BE49-F238E27FC236}">
                  <a16:creationId xmlns:a16="http://schemas.microsoft.com/office/drawing/2014/main" id="{58674C34-2C74-9222-19B5-5BEC08BA9CAD}"/>
                </a:ext>
              </a:extLst>
            </p:cNvPr>
            <p:cNvSpPr/>
            <p:nvPr/>
          </p:nvSpPr>
          <p:spPr>
            <a:xfrm>
              <a:off x="5827041" y="2319864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" name="Diagrama de flujo: proceso 21">
              <a:extLst>
                <a:ext uri="{FF2B5EF4-FFF2-40B4-BE49-F238E27FC236}">
                  <a16:creationId xmlns:a16="http://schemas.microsoft.com/office/drawing/2014/main" id="{7045F9D5-3C40-F877-89BC-037729A265CB}"/>
                </a:ext>
              </a:extLst>
            </p:cNvPr>
            <p:cNvSpPr/>
            <p:nvPr/>
          </p:nvSpPr>
          <p:spPr>
            <a:xfrm>
              <a:off x="5979441" y="2472264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6" name="Diagrama de flujo: proceso 23">
              <a:extLst>
                <a:ext uri="{FF2B5EF4-FFF2-40B4-BE49-F238E27FC236}">
                  <a16:creationId xmlns:a16="http://schemas.microsoft.com/office/drawing/2014/main" id="{FE8C44EB-BE20-360B-DC14-CC3EAD1DB018}"/>
                </a:ext>
              </a:extLst>
            </p:cNvPr>
            <p:cNvSpPr/>
            <p:nvPr/>
          </p:nvSpPr>
          <p:spPr>
            <a:xfrm>
              <a:off x="6131841" y="2624664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73F1E888-0245-FB91-A586-745C54650EE1}"/>
                </a:ext>
              </a:extLst>
            </p:cNvPr>
            <p:cNvSpPr/>
            <p:nvPr/>
          </p:nvSpPr>
          <p:spPr>
            <a:xfrm rot="5400000">
              <a:off x="6009812" y="1787322"/>
              <a:ext cx="252115" cy="69895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5153D67E-2B6E-E788-0479-4D400A305060}"/>
                </a:ext>
              </a:extLst>
            </p:cNvPr>
            <p:cNvSpPr txBox="1"/>
            <p:nvPr/>
          </p:nvSpPr>
          <p:spPr>
            <a:xfrm>
              <a:off x="5948443" y="1735894"/>
              <a:ext cx="698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14</a:t>
              </a:r>
              <a:endParaRPr lang="es-CL" b="1" dirty="0"/>
            </a:p>
          </p:txBody>
        </p:sp>
        <p:sp>
          <p:nvSpPr>
            <p:cNvPr id="29" name="Abrir llave 28">
              <a:extLst>
                <a:ext uri="{FF2B5EF4-FFF2-40B4-BE49-F238E27FC236}">
                  <a16:creationId xmlns:a16="http://schemas.microsoft.com/office/drawing/2014/main" id="{841F808F-AB69-C1F8-F16A-E397A6106ED2}"/>
                </a:ext>
              </a:extLst>
            </p:cNvPr>
            <p:cNvSpPr/>
            <p:nvPr/>
          </p:nvSpPr>
          <p:spPr>
            <a:xfrm rot="10800000">
              <a:off x="6436641" y="2623283"/>
              <a:ext cx="259705" cy="83664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4D52F23-4147-EDE7-C344-DD6D0E49ED05}"/>
                </a:ext>
              </a:extLst>
            </p:cNvPr>
            <p:cNvSpPr txBox="1"/>
            <p:nvPr/>
          </p:nvSpPr>
          <p:spPr>
            <a:xfrm rot="5400000">
              <a:off x="6402375" y="2891648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300</a:t>
              </a:r>
              <a:endParaRPr lang="es-CL" b="1" dirty="0"/>
            </a:p>
          </p:txBody>
        </p:sp>
        <p:cxnSp>
          <p:nvCxnSpPr>
            <p:cNvPr id="31" name="Conector recto de flecha 30">
              <a:extLst>
                <a:ext uri="{FF2B5EF4-FFF2-40B4-BE49-F238E27FC236}">
                  <a16:creationId xmlns:a16="http://schemas.microsoft.com/office/drawing/2014/main" id="{DF6096C3-1751-19E7-26C6-D6B8F9EA0063}"/>
                </a:ext>
              </a:extLst>
            </p:cNvPr>
            <p:cNvCxnSpPr/>
            <p:nvPr/>
          </p:nvCxnSpPr>
          <p:spPr>
            <a:xfrm>
              <a:off x="5018743" y="2893589"/>
              <a:ext cx="626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45390B5F-A8A7-ACA9-A975-72306D82818C}"/>
                </a:ext>
              </a:extLst>
            </p:cNvPr>
            <p:cNvSpPr txBox="1"/>
            <p:nvPr/>
          </p:nvSpPr>
          <p:spPr>
            <a:xfrm>
              <a:off x="1640504" y="2958479"/>
              <a:ext cx="1101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 err="1"/>
                <a:t>Tokenizer</a:t>
              </a:r>
              <a:endParaRPr lang="es-CL" b="1" dirty="0"/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E3FCED8D-5ADB-C968-91A1-9AE819A1CEC5}"/>
                </a:ext>
              </a:extLst>
            </p:cNvPr>
            <p:cNvSpPr txBox="1"/>
            <p:nvPr/>
          </p:nvSpPr>
          <p:spPr>
            <a:xfrm>
              <a:off x="4831819" y="2927185"/>
              <a:ext cx="10042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 err="1"/>
                <a:t>Glove</a:t>
              </a:r>
              <a:endParaRPr lang="es-CL" b="1" dirty="0"/>
            </a:p>
          </p:txBody>
        </p:sp>
        <p:cxnSp>
          <p:nvCxnSpPr>
            <p:cNvPr id="34" name="Conector recto de flecha 33">
              <a:extLst>
                <a:ext uri="{FF2B5EF4-FFF2-40B4-BE49-F238E27FC236}">
                  <a16:creationId xmlns:a16="http://schemas.microsoft.com/office/drawing/2014/main" id="{CCD342DE-F19A-6F0F-C7A6-DA5CFC506BAD}"/>
                </a:ext>
              </a:extLst>
            </p:cNvPr>
            <p:cNvCxnSpPr/>
            <p:nvPr/>
          </p:nvCxnSpPr>
          <p:spPr>
            <a:xfrm>
              <a:off x="7039501" y="2920472"/>
              <a:ext cx="62607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Diagrama de flujo: proceso 47">
              <a:extLst>
                <a:ext uri="{FF2B5EF4-FFF2-40B4-BE49-F238E27FC236}">
                  <a16:creationId xmlns:a16="http://schemas.microsoft.com/office/drawing/2014/main" id="{A2B8CB38-C2C2-1186-D107-85B2134D488E}"/>
                </a:ext>
              </a:extLst>
            </p:cNvPr>
            <p:cNvSpPr/>
            <p:nvPr/>
          </p:nvSpPr>
          <p:spPr>
            <a:xfrm>
              <a:off x="7802302" y="2528441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EE55A380-3A4D-7636-1562-BFF86D2AE5BC}"/>
                </a:ext>
              </a:extLst>
            </p:cNvPr>
            <p:cNvSpPr txBox="1"/>
            <p:nvPr/>
          </p:nvSpPr>
          <p:spPr>
            <a:xfrm>
              <a:off x="7025660" y="2932558"/>
              <a:ext cx="100423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b="1" dirty="0"/>
                <a:t>GRU</a:t>
              </a:r>
              <a:endParaRPr lang="es-CL" b="1" dirty="0"/>
            </a:p>
          </p:txBody>
        </p:sp>
        <p:sp>
          <p:nvSpPr>
            <p:cNvPr id="37" name="Abrir llave 36">
              <a:extLst>
                <a:ext uri="{FF2B5EF4-FFF2-40B4-BE49-F238E27FC236}">
                  <a16:creationId xmlns:a16="http://schemas.microsoft.com/office/drawing/2014/main" id="{E1D860BB-293E-4F27-1E86-833823343B34}"/>
                </a:ext>
              </a:extLst>
            </p:cNvPr>
            <p:cNvSpPr/>
            <p:nvPr/>
          </p:nvSpPr>
          <p:spPr>
            <a:xfrm rot="10800000">
              <a:off x="8062357" y="2486323"/>
              <a:ext cx="259705" cy="83664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567BD419-1516-AEA3-BFC0-7F2EA5994D74}"/>
                </a:ext>
              </a:extLst>
            </p:cNvPr>
            <p:cNvSpPr txBox="1"/>
            <p:nvPr/>
          </p:nvSpPr>
          <p:spPr>
            <a:xfrm rot="5400000">
              <a:off x="8028091" y="2754688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b="1" dirty="0"/>
                <a:t>512</a:t>
              </a:r>
              <a:endParaRPr lang="es-CL" b="1" dirty="0"/>
            </a:p>
          </p:txBody>
        </p:sp>
      </p:grpSp>
      <p:sp>
        <p:nvSpPr>
          <p:cNvPr id="41" name="Google Shape;72;p10">
            <a:extLst>
              <a:ext uri="{FF2B5EF4-FFF2-40B4-BE49-F238E27FC236}">
                <a16:creationId xmlns:a16="http://schemas.microsoft.com/office/drawing/2014/main" id="{08C9C82F-1FAE-6B7F-322C-E7D7F576021E}"/>
              </a:ext>
            </a:extLst>
          </p:cNvPr>
          <p:cNvSpPr txBox="1">
            <a:spLocks/>
          </p:cNvSpPr>
          <p:nvPr/>
        </p:nvSpPr>
        <p:spPr>
          <a:xfrm>
            <a:off x="228600" y="664684"/>
            <a:ext cx="8839200" cy="9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</p:spTree>
    <p:extLst>
      <p:ext uri="{BB962C8B-B14F-4D97-AF65-F5344CB8AC3E}">
        <p14:creationId xmlns:p14="http://schemas.microsoft.com/office/powerpoint/2010/main" val="1563127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AA96D8C2-BCDB-2556-B306-49BE490EB225}"/>
              </a:ext>
            </a:extLst>
          </p:cNvPr>
          <p:cNvGrpSpPr/>
          <p:nvPr/>
        </p:nvGrpSpPr>
        <p:grpSpPr>
          <a:xfrm>
            <a:off x="190500" y="1975642"/>
            <a:ext cx="8763000" cy="3883172"/>
            <a:chOff x="190500" y="2410540"/>
            <a:chExt cx="8763000" cy="3883172"/>
          </a:xfrm>
        </p:grpSpPr>
        <p:pic>
          <p:nvPicPr>
            <p:cNvPr id="10" name="Imagen 9" descr="Interfaz de usuario gráfica&#10;&#10;Descripción generada automáticamente">
              <a:extLst>
                <a:ext uri="{FF2B5EF4-FFF2-40B4-BE49-F238E27FC236}">
                  <a16:creationId xmlns:a16="http://schemas.microsoft.com/office/drawing/2014/main" id="{9761A0BD-B81F-AA30-B2B3-C0A1DCF9D5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500" y="2410540"/>
              <a:ext cx="8763000" cy="1607807"/>
            </a:xfrm>
            <a:prstGeom prst="rect">
              <a:avLst/>
            </a:prstGeom>
          </p:spPr>
        </p:pic>
        <p:sp>
          <p:nvSpPr>
            <p:cNvPr id="19" name="Rectángulo: esquinas redondeadas 1">
              <a:extLst>
                <a:ext uri="{FF2B5EF4-FFF2-40B4-BE49-F238E27FC236}">
                  <a16:creationId xmlns:a16="http://schemas.microsoft.com/office/drawing/2014/main" id="{3F86CEA4-096F-63A2-E004-7CB9546E9B90}"/>
                </a:ext>
              </a:extLst>
            </p:cNvPr>
            <p:cNvSpPr/>
            <p:nvPr/>
          </p:nvSpPr>
          <p:spPr>
            <a:xfrm>
              <a:off x="3370306" y="2904304"/>
              <a:ext cx="2371467" cy="883033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11CF01E-842D-7A8B-7BC2-1CF07DFBDACD}"/>
                </a:ext>
              </a:extLst>
            </p:cNvPr>
            <p:cNvSpPr txBox="1"/>
            <p:nvPr/>
          </p:nvSpPr>
          <p:spPr>
            <a:xfrm>
              <a:off x="3298832" y="4258411"/>
              <a:ext cx="22654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200" dirty="0"/>
                <a:t>Obtener los objetos importantes para responder la pregunta</a:t>
              </a:r>
              <a:endParaRPr lang="es-CL" sz="1200" dirty="0"/>
            </a:p>
          </p:txBody>
        </p:sp>
        <p:pic>
          <p:nvPicPr>
            <p:cNvPr id="21" name="Gráfico 20" descr="Gráfico de barras">
              <a:extLst>
                <a:ext uri="{FF2B5EF4-FFF2-40B4-BE49-F238E27FC236}">
                  <a16:creationId xmlns:a16="http://schemas.microsoft.com/office/drawing/2014/main" id="{6872C68A-1A43-D4F1-334F-F7524704B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97116" y="4740420"/>
              <a:ext cx="1162127" cy="1162127"/>
            </a:xfrm>
            <a:prstGeom prst="rect">
              <a:avLst/>
            </a:prstGeom>
          </p:spPr>
        </p:pic>
        <p:sp>
          <p:nvSpPr>
            <p:cNvPr id="22" name="Diagrama de flujo: proceso 6">
              <a:extLst>
                <a:ext uri="{FF2B5EF4-FFF2-40B4-BE49-F238E27FC236}">
                  <a16:creationId xmlns:a16="http://schemas.microsoft.com/office/drawing/2014/main" id="{1A9CBF0E-E5D4-59FC-E7C7-A85157C75661}"/>
                </a:ext>
              </a:extLst>
            </p:cNvPr>
            <p:cNvSpPr/>
            <p:nvPr/>
          </p:nvSpPr>
          <p:spPr>
            <a:xfrm>
              <a:off x="2452294" y="4630069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3" name="Diagrama de flujo: proceso 8">
              <a:extLst>
                <a:ext uri="{FF2B5EF4-FFF2-40B4-BE49-F238E27FC236}">
                  <a16:creationId xmlns:a16="http://schemas.microsoft.com/office/drawing/2014/main" id="{0D66916D-C40E-5B4F-8DE6-B526B0C94661}"/>
                </a:ext>
              </a:extLst>
            </p:cNvPr>
            <p:cNvSpPr/>
            <p:nvPr/>
          </p:nvSpPr>
          <p:spPr>
            <a:xfrm>
              <a:off x="2604694" y="4782469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4" name="Diagrama de flujo: proceso 9">
              <a:extLst>
                <a:ext uri="{FF2B5EF4-FFF2-40B4-BE49-F238E27FC236}">
                  <a16:creationId xmlns:a16="http://schemas.microsoft.com/office/drawing/2014/main" id="{C10540E0-6FEE-7C5E-F348-0C149BF21E3D}"/>
                </a:ext>
              </a:extLst>
            </p:cNvPr>
            <p:cNvSpPr/>
            <p:nvPr/>
          </p:nvSpPr>
          <p:spPr>
            <a:xfrm>
              <a:off x="2757094" y="4934869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5" name="Abrir llave 24">
              <a:extLst>
                <a:ext uri="{FF2B5EF4-FFF2-40B4-BE49-F238E27FC236}">
                  <a16:creationId xmlns:a16="http://schemas.microsoft.com/office/drawing/2014/main" id="{C4A38415-DE34-A051-6A6A-7D75C7B87895}"/>
                </a:ext>
              </a:extLst>
            </p:cNvPr>
            <p:cNvSpPr/>
            <p:nvPr/>
          </p:nvSpPr>
          <p:spPr>
            <a:xfrm rot="16200000">
              <a:off x="2575872" y="5521851"/>
              <a:ext cx="252115" cy="698957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6" name="Abrir llave 25">
              <a:extLst>
                <a:ext uri="{FF2B5EF4-FFF2-40B4-BE49-F238E27FC236}">
                  <a16:creationId xmlns:a16="http://schemas.microsoft.com/office/drawing/2014/main" id="{E0EA1349-643A-9A7B-018E-36E7612AD3FD}"/>
                </a:ext>
              </a:extLst>
            </p:cNvPr>
            <p:cNvSpPr/>
            <p:nvPr/>
          </p:nvSpPr>
          <p:spPr>
            <a:xfrm rot="10800000">
              <a:off x="3110601" y="4934868"/>
              <a:ext cx="259705" cy="836649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7" name="Abrir llave 26">
              <a:extLst>
                <a:ext uri="{FF2B5EF4-FFF2-40B4-BE49-F238E27FC236}">
                  <a16:creationId xmlns:a16="http://schemas.microsoft.com/office/drawing/2014/main" id="{DC4601C2-614C-2A4E-F978-C9B1A7F4A771}"/>
                </a:ext>
              </a:extLst>
            </p:cNvPr>
            <p:cNvSpPr/>
            <p:nvPr/>
          </p:nvSpPr>
          <p:spPr>
            <a:xfrm rot="10800000">
              <a:off x="3110601" y="4934869"/>
              <a:ext cx="259705" cy="83664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2DD0DE81-25FA-A758-A4E1-10BCB0D9E7A6}"/>
                </a:ext>
              </a:extLst>
            </p:cNvPr>
            <p:cNvSpPr txBox="1"/>
            <p:nvPr/>
          </p:nvSpPr>
          <p:spPr>
            <a:xfrm>
              <a:off x="2546561" y="5985935"/>
              <a:ext cx="309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K</a:t>
              </a:r>
              <a:endParaRPr lang="es-CL" dirty="0"/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BE4FEE5B-EAB2-4EE8-67CD-5D9E7622F088}"/>
                </a:ext>
              </a:extLst>
            </p:cNvPr>
            <p:cNvSpPr txBox="1"/>
            <p:nvPr/>
          </p:nvSpPr>
          <p:spPr>
            <a:xfrm rot="5400000">
              <a:off x="3128482" y="5173011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2048</a:t>
              </a:r>
              <a:endParaRPr lang="es-CL" dirty="0"/>
            </a:p>
          </p:txBody>
        </p:sp>
        <p:sp>
          <p:nvSpPr>
            <p:cNvPr id="30" name="Diagrama de flujo: conector 21">
              <a:extLst>
                <a:ext uri="{FF2B5EF4-FFF2-40B4-BE49-F238E27FC236}">
                  <a16:creationId xmlns:a16="http://schemas.microsoft.com/office/drawing/2014/main" id="{83AD854C-145D-A0B9-12CE-A6DC79599348}"/>
                </a:ext>
              </a:extLst>
            </p:cNvPr>
            <p:cNvSpPr/>
            <p:nvPr/>
          </p:nvSpPr>
          <p:spPr>
            <a:xfrm>
              <a:off x="3716183" y="5174499"/>
              <a:ext cx="380933" cy="392031"/>
            </a:xfrm>
            <a:prstGeom prst="flowChartConnector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  <p:sp>
          <p:nvSpPr>
            <p:cNvPr id="31" name="Diagrama de flujo: conector 23">
              <a:extLst>
                <a:ext uri="{FF2B5EF4-FFF2-40B4-BE49-F238E27FC236}">
                  <a16:creationId xmlns:a16="http://schemas.microsoft.com/office/drawing/2014/main" id="{F4433FE7-2950-1694-4652-CF897495CF61}"/>
                </a:ext>
              </a:extLst>
            </p:cNvPr>
            <p:cNvSpPr/>
            <p:nvPr/>
          </p:nvSpPr>
          <p:spPr>
            <a:xfrm>
              <a:off x="3887595" y="5347675"/>
              <a:ext cx="50400" cy="50400"/>
            </a:xfrm>
            <a:prstGeom prst="flowChartConnector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2" name="Diagrama de flujo: proceso 31">
              <a:extLst>
                <a:ext uri="{FF2B5EF4-FFF2-40B4-BE49-F238E27FC236}">
                  <a16:creationId xmlns:a16="http://schemas.microsoft.com/office/drawing/2014/main" id="{416BC218-2A6C-2990-C1F2-3E81FA878E63}"/>
                </a:ext>
              </a:extLst>
            </p:cNvPr>
            <p:cNvSpPr/>
            <p:nvPr/>
          </p:nvSpPr>
          <p:spPr>
            <a:xfrm>
              <a:off x="5744873" y="4863925"/>
              <a:ext cx="188535" cy="784061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3" name="Abrir llave 32">
              <a:extLst>
                <a:ext uri="{FF2B5EF4-FFF2-40B4-BE49-F238E27FC236}">
                  <a16:creationId xmlns:a16="http://schemas.microsoft.com/office/drawing/2014/main" id="{1F52D3BC-C8F2-8E6E-388A-FB4F3020B402}"/>
                </a:ext>
              </a:extLst>
            </p:cNvPr>
            <p:cNvSpPr/>
            <p:nvPr/>
          </p:nvSpPr>
          <p:spPr>
            <a:xfrm rot="10800000">
              <a:off x="6098380" y="4863925"/>
              <a:ext cx="259705" cy="836649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E0532E0-2581-C5B5-9266-DA6BB3642301}"/>
                </a:ext>
              </a:extLst>
            </p:cNvPr>
            <p:cNvSpPr txBox="1"/>
            <p:nvPr/>
          </p:nvSpPr>
          <p:spPr>
            <a:xfrm rot="5400000">
              <a:off x="6116261" y="5102067"/>
              <a:ext cx="8676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/>
                <a:t>2048</a:t>
              </a:r>
              <a:endParaRPr lang="es-CL" dirty="0"/>
            </a:p>
          </p:txBody>
        </p:sp>
        <p:cxnSp>
          <p:nvCxnSpPr>
            <p:cNvPr id="35" name="Conector recto de flecha 34">
              <a:extLst>
                <a:ext uri="{FF2B5EF4-FFF2-40B4-BE49-F238E27FC236}">
                  <a16:creationId xmlns:a16="http://schemas.microsoft.com/office/drawing/2014/main" id="{7A543029-38D7-4879-3855-49598E561A8A}"/>
                </a:ext>
              </a:extLst>
            </p:cNvPr>
            <p:cNvCxnSpPr/>
            <p:nvPr/>
          </p:nvCxnSpPr>
          <p:spPr>
            <a:xfrm>
              <a:off x="5259243" y="5273353"/>
              <a:ext cx="37543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Abrir llave 35">
              <a:extLst>
                <a:ext uri="{FF2B5EF4-FFF2-40B4-BE49-F238E27FC236}">
                  <a16:creationId xmlns:a16="http://schemas.microsoft.com/office/drawing/2014/main" id="{91CD316D-205F-7692-6D74-DA8DE0E32E28}"/>
                </a:ext>
              </a:extLst>
            </p:cNvPr>
            <p:cNvSpPr/>
            <p:nvPr/>
          </p:nvSpPr>
          <p:spPr>
            <a:xfrm rot="5400000">
              <a:off x="4113225" y="1963466"/>
              <a:ext cx="392030" cy="4097689"/>
            </a:xfrm>
            <a:prstGeom prst="leftBrace">
              <a:avLst>
                <a:gd name="adj1" fmla="val 8333"/>
                <a:gd name="adj2" fmla="val 43366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7B1CAE78-B3A8-B9D5-F4A5-6EAAA9FF9FA4}"/>
                </a:ext>
              </a:extLst>
            </p:cNvPr>
            <p:cNvSpPr txBox="1"/>
            <p:nvPr/>
          </p:nvSpPr>
          <p:spPr>
            <a:xfrm>
              <a:off x="3252889" y="4003700"/>
              <a:ext cx="226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b="1" dirty="0"/>
                <a:t>Top – Down </a:t>
              </a:r>
              <a:r>
                <a:rPr lang="es-ES" sz="1400" b="1" dirty="0" err="1"/>
                <a:t>attention</a:t>
              </a:r>
              <a:endParaRPr lang="es-CL" sz="1400" b="1" dirty="0"/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09E8B022-B41F-3032-48FD-02A970504151}"/>
                </a:ext>
              </a:extLst>
            </p:cNvPr>
            <p:cNvSpPr txBox="1"/>
            <p:nvPr/>
          </p:nvSpPr>
          <p:spPr>
            <a:xfrm>
              <a:off x="3508291" y="5761360"/>
              <a:ext cx="22654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/>
                <a:t>Attention</a:t>
              </a:r>
              <a:r>
                <a:rPr lang="es-ES" dirty="0"/>
                <a:t> </a:t>
              </a:r>
              <a:r>
                <a:rPr lang="es-ES" dirty="0" err="1"/>
                <a:t>weights</a:t>
              </a:r>
              <a:endParaRPr lang="es-CL" dirty="0"/>
            </a:p>
          </p:txBody>
        </p:sp>
      </p:grpSp>
      <p:sp>
        <p:nvSpPr>
          <p:cNvPr id="43" name="Google Shape;72;p10">
            <a:extLst>
              <a:ext uri="{FF2B5EF4-FFF2-40B4-BE49-F238E27FC236}">
                <a16:creationId xmlns:a16="http://schemas.microsoft.com/office/drawing/2014/main" id="{AB608E52-F8DF-6E59-72EF-3717ACF5F543}"/>
              </a:ext>
            </a:extLst>
          </p:cNvPr>
          <p:cNvSpPr txBox="1">
            <a:spLocks/>
          </p:cNvSpPr>
          <p:nvPr/>
        </p:nvSpPr>
        <p:spPr>
          <a:xfrm>
            <a:off x="228600" y="664684"/>
            <a:ext cx="8839200" cy="9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</p:spTree>
    <p:extLst>
      <p:ext uri="{BB962C8B-B14F-4D97-AF65-F5344CB8AC3E}">
        <p14:creationId xmlns:p14="http://schemas.microsoft.com/office/powerpoint/2010/main" val="3666045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019983" cy="6411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sp>
        <p:nvSpPr>
          <p:cNvPr id="3" name="Rectángulo: esquinas redondeadas 1">
            <a:extLst>
              <a:ext uri="{FF2B5EF4-FFF2-40B4-BE49-F238E27FC236}">
                <a16:creationId xmlns:a16="http://schemas.microsoft.com/office/drawing/2014/main" id="{C7EA2319-5E5E-F9C0-8154-2CEFBB1CA8EF}"/>
              </a:ext>
            </a:extLst>
          </p:cNvPr>
          <p:cNvSpPr/>
          <p:nvPr/>
        </p:nvSpPr>
        <p:spPr>
          <a:xfrm>
            <a:off x="6794852" y="3031524"/>
            <a:ext cx="1456263" cy="6507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: esquinas redondeadas 1">
            <a:extLst>
              <a:ext uri="{FF2B5EF4-FFF2-40B4-BE49-F238E27FC236}">
                <a16:creationId xmlns:a16="http://schemas.microsoft.com/office/drawing/2014/main" id="{9805002F-ED4F-00DB-1F00-B621C6F20A53}"/>
              </a:ext>
            </a:extLst>
          </p:cNvPr>
          <p:cNvSpPr/>
          <p:nvPr/>
        </p:nvSpPr>
        <p:spPr>
          <a:xfrm>
            <a:off x="6022375" y="3031524"/>
            <a:ext cx="716176" cy="6507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078FBF60-A388-FEF8-CA88-4C7A05348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734232"/>
            <a:ext cx="8763000" cy="160780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E9B57B3-75D9-BD43-948E-F45170AE6A07}"/>
              </a:ext>
            </a:extLst>
          </p:cNvPr>
          <p:cNvSpPr txBox="1"/>
          <p:nvPr/>
        </p:nvSpPr>
        <p:spPr>
          <a:xfrm>
            <a:off x="5181981" y="2004654"/>
            <a:ext cx="2324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/>
              <a:t>Mezclar</a:t>
            </a:r>
            <a:r>
              <a:rPr lang="en-US" sz="1200" dirty="0"/>
              <a:t> la </a:t>
            </a:r>
            <a:r>
              <a:rPr lang="en-US" sz="1200" dirty="0" err="1"/>
              <a:t>información</a:t>
            </a:r>
            <a:r>
              <a:rPr lang="en-US" sz="1200" dirty="0"/>
              <a:t> multimodal sin </a:t>
            </a:r>
            <a:r>
              <a:rPr lang="en-US" sz="1200" dirty="0" err="1"/>
              <a:t>aumentar</a:t>
            </a:r>
            <a:r>
              <a:rPr lang="en-US" sz="1200" dirty="0"/>
              <a:t> la </a:t>
            </a:r>
            <a:r>
              <a:rPr lang="en-US" sz="1200" dirty="0" err="1"/>
              <a:t>dimensión</a:t>
            </a:r>
            <a:r>
              <a:rPr lang="en-US" sz="1200" dirty="0"/>
              <a:t> del </a:t>
            </a:r>
            <a:r>
              <a:rPr lang="en-US" sz="1200" dirty="0" err="1"/>
              <a:t>modelo</a:t>
            </a:r>
            <a:endParaRPr lang="es-CL" sz="12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EBA470E-E410-0D5B-D772-ACCD43B30845}"/>
              </a:ext>
            </a:extLst>
          </p:cNvPr>
          <p:cNvSpPr txBox="1"/>
          <p:nvPr/>
        </p:nvSpPr>
        <p:spPr>
          <a:xfrm>
            <a:off x="6350563" y="3774464"/>
            <a:ext cx="23448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Selecciona</a:t>
            </a:r>
            <a:r>
              <a:rPr lang="en-US" sz="1400" dirty="0"/>
              <a:t> la major </a:t>
            </a:r>
            <a:r>
              <a:rPr lang="en-US" sz="1400" dirty="0" err="1"/>
              <a:t>respuesta</a:t>
            </a:r>
            <a:r>
              <a:rPr lang="en-US" sz="1400" dirty="0"/>
              <a:t> para la </a:t>
            </a:r>
            <a:r>
              <a:rPr lang="en-US" sz="1400" dirty="0" err="1"/>
              <a:t>pregunta</a:t>
            </a:r>
            <a:endParaRPr lang="es-CL" sz="14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F36B46F2-4406-C8D9-2516-5EB02478094D}"/>
              </a:ext>
            </a:extLst>
          </p:cNvPr>
          <p:cNvGrpSpPr/>
          <p:nvPr/>
        </p:nvGrpSpPr>
        <p:grpSpPr>
          <a:xfrm>
            <a:off x="1315727" y="4719360"/>
            <a:ext cx="7592023" cy="1233081"/>
            <a:chOff x="1315727" y="4719360"/>
            <a:chExt cx="7592023" cy="1233081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FC83315D-89C4-1957-0222-2F53DD822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5727" y="4719360"/>
              <a:ext cx="1707560" cy="1233081"/>
            </a:xfrm>
            <a:prstGeom prst="rect">
              <a:avLst/>
            </a:prstGeom>
          </p:spPr>
        </p:pic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55DA0A1A-3679-B7EC-8120-D2D22E1D9B70}"/>
                </a:ext>
              </a:extLst>
            </p:cNvPr>
            <p:cNvSpPr txBox="1"/>
            <p:nvPr/>
          </p:nvSpPr>
          <p:spPr>
            <a:xfrm>
              <a:off x="3580187" y="5074291"/>
              <a:ext cx="24828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What is this?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EBCA050-3B06-603E-75AD-27EBECDF397B}"/>
                </a:ext>
              </a:extLst>
            </p:cNvPr>
            <p:cNvSpPr txBox="1"/>
            <p:nvPr/>
          </p:nvSpPr>
          <p:spPr>
            <a:xfrm>
              <a:off x="6424888" y="5074291"/>
              <a:ext cx="248286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/>
                <a:t>Train</a:t>
              </a:r>
            </a:p>
          </p:txBody>
        </p:sp>
        <p:cxnSp>
          <p:nvCxnSpPr>
            <p:cNvPr id="12" name="Conector recto de flecha 11">
              <a:extLst>
                <a:ext uri="{FF2B5EF4-FFF2-40B4-BE49-F238E27FC236}">
                  <a16:creationId xmlns:a16="http://schemas.microsoft.com/office/drawing/2014/main" id="{DE7893D4-C444-137C-407B-59BC67551298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3105665" y="5335900"/>
              <a:ext cx="47452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de flecha 12">
              <a:extLst>
                <a:ext uri="{FF2B5EF4-FFF2-40B4-BE49-F238E27FC236}">
                  <a16:creationId xmlns:a16="http://schemas.microsoft.com/office/drawing/2014/main" id="{9D919F66-1FC7-4BC1-E85A-A06F0C2B9691}"/>
                </a:ext>
              </a:extLst>
            </p:cNvPr>
            <p:cNvCxnSpPr/>
            <p:nvPr/>
          </p:nvCxnSpPr>
          <p:spPr>
            <a:xfrm>
              <a:off x="5964893" y="5335900"/>
              <a:ext cx="47452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5176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019983" cy="641123"/>
          </a:xfrm>
        </p:spPr>
        <p:txBody>
          <a:bodyPr>
            <a:normAutofit fontScale="90000"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/>
              <a:t>Problemas</a:t>
            </a:r>
            <a:r>
              <a:rPr lang="en-US" b="1" dirty="0"/>
              <a:t> con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enfoques</a:t>
            </a:r>
            <a:r>
              <a:rPr lang="en-US" b="1" dirty="0"/>
              <a:t> </a:t>
            </a:r>
            <a:r>
              <a:rPr lang="en-US" b="1" dirty="0" err="1"/>
              <a:t>existentes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C1CF517-3193-AAF1-41CD-2C1F0ABA99CC}"/>
              </a:ext>
            </a:extLst>
          </p:cNvPr>
          <p:cNvSpPr txBox="1"/>
          <p:nvPr/>
        </p:nvSpPr>
        <p:spPr>
          <a:xfrm>
            <a:off x="412594" y="1550020"/>
            <a:ext cx="836341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393700" algn="just" rtl="0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Los modelos VQA están impulsados por antecedentes de lenguaje en los datos de entrenamiento.</a:t>
            </a:r>
          </a:p>
          <a:p>
            <a:pPr marL="457200" lvl="0" indent="-393700" algn="just" rtl="0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Falta de </a:t>
            </a:r>
            <a:r>
              <a:rPr lang="es-CL" b="0" i="0" u="none" strike="noStrike" dirty="0" err="1">
                <a:solidFill>
                  <a:srgbClr val="000000"/>
                </a:solidFill>
                <a:effectLst/>
              </a:rPr>
              <a:t>composicionalidad</a:t>
            </a:r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457200" lvl="0" indent="-393700" algn="just" rtl="0">
              <a:spcBef>
                <a:spcPts val="600"/>
              </a:spcBef>
              <a:spcAft>
                <a:spcPts val="0"/>
              </a:spcAft>
              <a:buSzPts val="2600"/>
              <a:buChar char="●"/>
            </a:pPr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Sus respuestas son limitadas.</a:t>
            </a:r>
          </a:p>
          <a:p>
            <a:pPr algn="just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8796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2;p10">
            <a:extLst>
              <a:ext uri="{FF2B5EF4-FFF2-40B4-BE49-F238E27FC236}">
                <a16:creationId xmlns:a16="http://schemas.microsoft.com/office/drawing/2014/main" id="{48C682DE-E564-CD71-2EC3-9ACB3C8AA821}"/>
              </a:ext>
            </a:extLst>
          </p:cNvPr>
          <p:cNvSpPr txBox="1">
            <a:spLocks/>
          </p:cNvSpPr>
          <p:nvPr/>
        </p:nvSpPr>
        <p:spPr>
          <a:xfrm>
            <a:off x="304800" y="751974"/>
            <a:ext cx="8839200" cy="9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sp>
        <p:nvSpPr>
          <p:cNvPr id="6" name="Google Shape;73;p10">
            <a:extLst>
              <a:ext uri="{FF2B5EF4-FFF2-40B4-BE49-F238E27FC236}">
                <a16:creationId xmlns:a16="http://schemas.microsoft.com/office/drawing/2014/main" id="{B39DFE80-7315-8591-7A90-101D8051B85C}"/>
              </a:ext>
            </a:extLst>
          </p:cNvPr>
          <p:cNvSpPr txBox="1">
            <a:spLocks/>
          </p:cNvSpPr>
          <p:nvPr/>
        </p:nvSpPr>
        <p:spPr>
          <a:xfrm>
            <a:off x="228600" y="1447800"/>
            <a:ext cx="8763000" cy="99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">
              <a:spcBef>
                <a:spcPts val="600"/>
              </a:spcBef>
              <a:buSzPts val="260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Los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modelos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VQA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están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impulsados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por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antecedentes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lenguaje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datos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entrenamiento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pic>
        <p:nvPicPr>
          <p:cNvPr id="7" name="Imagen 6" descr="Gato parado enfrente de una televisión&#10;&#10;Descripción generada automáticamente">
            <a:extLst>
              <a:ext uri="{FF2B5EF4-FFF2-40B4-BE49-F238E27FC236}">
                <a16:creationId xmlns:a16="http://schemas.microsoft.com/office/drawing/2014/main" id="{B8ED79A8-0F7F-FAEB-65F9-65472F2B4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2667000"/>
            <a:ext cx="3561348" cy="267101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E722218-C7B1-57CF-3F3F-B732D436D9E8}"/>
              </a:ext>
            </a:extLst>
          </p:cNvPr>
          <p:cNvSpPr txBox="1"/>
          <p:nvPr/>
        </p:nvSpPr>
        <p:spPr>
          <a:xfrm>
            <a:off x="4259179" y="2839453"/>
            <a:ext cx="2658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Is</a:t>
            </a:r>
            <a:r>
              <a:rPr lang="es-ES" sz="2800" b="1" dirty="0"/>
              <a:t> </a:t>
            </a:r>
            <a:r>
              <a:rPr lang="es-ES" sz="2800" b="1" dirty="0" err="1"/>
              <a:t>it</a:t>
            </a:r>
            <a:r>
              <a:rPr lang="es-ES" sz="2800" b="1" dirty="0"/>
              <a:t> a </a:t>
            </a:r>
            <a:r>
              <a:rPr lang="es-ES" sz="2800" b="1" dirty="0" err="1"/>
              <a:t>cat</a:t>
            </a:r>
            <a:r>
              <a:rPr lang="es-ES" sz="2800" b="1" dirty="0"/>
              <a:t>?</a:t>
            </a:r>
            <a:endParaRPr lang="es-CL" sz="2800" b="1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A5AD8572-D432-5B49-FFCA-7CBD189CA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748010"/>
              </p:ext>
            </p:extLst>
          </p:nvPr>
        </p:nvGraphicFramePr>
        <p:xfrm>
          <a:off x="4231104" y="3429000"/>
          <a:ext cx="3195608" cy="2194560"/>
        </p:xfrm>
        <a:graphic>
          <a:graphicData uri="http://schemas.openxmlformats.org/drawingml/2006/table">
            <a:tbl>
              <a:tblPr/>
              <a:tblGrid>
                <a:gridCol w="1301462">
                  <a:extLst>
                    <a:ext uri="{9D8B030D-6E8A-4147-A177-3AD203B41FA5}">
                      <a16:colId xmlns:a16="http://schemas.microsoft.com/office/drawing/2014/main" val="541619676"/>
                    </a:ext>
                  </a:extLst>
                </a:gridCol>
                <a:gridCol w="1894146">
                  <a:extLst>
                    <a:ext uri="{9D8B030D-6E8A-4147-A177-3AD203B41FA5}">
                      <a16:colId xmlns:a16="http://schemas.microsoft.com/office/drawing/2014/main" val="3632382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Prediction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Confidence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5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1.000000e+02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4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gray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8.608373e-08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47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7.221722e-08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70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cat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3.815360e-09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78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err="1">
                          <a:effectLst/>
                        </a:rPr>
                        <a:t>tabby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2.829354e-10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010521"/>
                  </a:ext>
                </a:extLst>
              </a:tr>
            </a:tbl>
          </a:graphicData>
        </a:graphic>
      </p:graphicFrame>
      <p:sp>
        <p:nvSpPr>
          <p:cNvPr id="10" name="Diagrama de flujo: proceso 12">
            <a:extLst>
              <a:ext uri="{FF2B5EF4-FFF2-40B4-BE49-F238E27FC236}">
                <a16:creationId xmlns:a16="http://schemas.microsoft.com/office/drawing/2014/main" id="{3B3DDCEC-88FF-05EB-68BD-23BF32D3C966}"/>
              </a:ext>
            </a:extLst>
          </p:cNvPr>
          <p:cNvSpPr/>
          <p:nvPr/>
        </p:nvSpPr>
        <p:spPr>
          <a:xfrm>
            <a:off x="4371081" y="3845304"/>
            <a:ext cx="2915654" cy="292100"/>
          </a:xfrm>
          <a:prstGeom prst="flowChartProcess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3902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884141" cy="6411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pic>
        <p:nvPicPr>
          <p:cNvPr id="3" name="Imagen 2" descr="Gato parado enfrente de una televisión&#10;&#10;Descripción generada automáticamente">
            <a:extLst>
              <a:ext uri="{FF2B5EF4-FFF2-40B4-BE49-F238E27FC236}">
                <a16:creationId xmlns:a16="http://schemas.microsoft.com/office/drawing/2014/main" id="{D99B74AF-F91A-3F06-86BE-23587A4A8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2667000"/>
            <a:ext cx="3281422" cy="26710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15D35-D35F-E505-8D53-B3364A937E4B}"/>
              </a:ext>
            </a:extLst>
          </p:cNvPr>
          <p:cNvSpPr txBox="1"/>
          <p:nvPr/>
        </p:nvSpPr>
        <p:spPr>
          <a:xfrm>
            <a:off x="4136515" y="2812613"/>
            <a:ext cx="33740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are </a:t>
            </a:r>
            <a:r>
              <a:rPr lang="es-ES" sz="2800" b="1" dirty="0" err="1"/>
              <a:t>there</a:t>
            </a:r>
            <a:r>
              <a:rPr lang="es-ES" sz="2800" b="1" dirty="0"/>
              <a:t> </a:t>
            </a:r>
            <a:r>
              <a:rPr lang="es-ES" sz="2800" b="1" dirty="0" err="1"/>
              <a:t>two</a:t>
            </a:r>
            <a:r>
              <a:rPr lang="es-ES" sz="2800" b="1" dirty="0"/>
              <a:t> </a:t>
            </a:r>
            <a:r>
              <a:rPr lang="es-ES" sz="2800" b="1" u="sng" dirty="0" err="1">
                <a:solidFill>
                  <a:schemeClr val="accent6"/>
                </a:solidFill>
              </a:rPr>
              <a:t>cat</a:t>
            </a:r>
            <a:r>
              <a:rPr lang="es-ES" sz="2800" b="1" dirty="0"/>
              <a:t>?</a:t>
            </a:r>
            <a:endParaRPr lang="es-CL" sz="2800" b="1" dirty="0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46BCDFEA-5E95-0132-8A31-49F17DADD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251774"/>
              </p:ext>
            </p:extLst>
          </p:nvPr>
        </p:nvGraphicFramePr>
        <p:xfrm>
          <a:off x="4231104" y="3429000"/>
          <a:ext cx="3374028" cy="1463040"/>
        </p:xfrm>
        <a:graphic>
          <a:graphicData uri="http://schemas.openxmlformats.org/drawingml/2006/table">
            <a:tbl>
              <a:tblPr/>
              <a:tblGrid>
                <a:gridCol w="1374126">
                  <a:extLst>
                    <a:ext uri="{9D8B030D-6E8A-4147-A177-3AD203B41FA5}">
                      <a16:colId xmlns:a16="http://schemas.microsoft.com/office/drawing/2014/main" val="541619676"/>
                    </a:ext>
                  </a:extLst>
                </a:gridCol>
                <a:gridCol w="1999902">
                  <a:extLst>
                    <a:ext uri="{9D8B030D-6E8A-4147-A177-3AD203B41FA5}">
                      <a16:colId xmlns:a16="http://schemas.microsoft.com/office/drawing/2014/main" val="3632382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Prediction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Confidence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5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99.995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4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n</a:t>
                      </a:r>
                      <a:r>
                        <a:rPr lang="es-CL" dirty="0">
                          <a:effectLst/>
                        </a:rPr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47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70574"/>
                  </a:ext>
                </a:extLst>
              </a:tr>
            </a:tbl>
          </a:graphicData>
        </a:graphic>
      </p:graphicFrame>
      <p:sp>
        <p:nvSpPr>
          <p:cNvPr id="8" name="Diagrama de flujo: proceso 12">
            <a:extLst>
              <a:ext uri="{FF2B5EF4-FFF2-40B4-BE49-F238E27FC236}">
                <a16:creationId xmlns:a16="http://schemas.microsoft.com/office/drawing/2014/main" id="{8506D957-30CA-A6E2-3687-58BB820605B0}"/>
              </a:ext>
            </a:extLst>
          </p:cNvPr>
          <p:cNvSpPr/>
          <p:nvPr/>
        </p:nvSpPr>
        <p:spPr>
          <a:xfrm>
            <a:off x="4572000" y="3821640"/>
            <a:ext cx="2497873" cy="315462"/>
          </a:xfrm>
          <a:prstGeom prst="flowChartProcess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Google Shape;73;p10">
            <a:extLst>
              <a:ext uri="{FF2B5EF4-FFF2-40B4-BE49-F238E27FC236}">
                <a16:creationId xmlns:a16="http://schemas.microsoft.com/office/drawing/2014/main" id="{3D41C50F-90B5-D754-0260-9DA6438A5630}"/>
              </a:ext>
            </a:extLst>
          </p:cNvPr>
          <p:cNvSpPr txBox="1">
            <a:spLocks/>
          </p:cNvSpPr>
          <p:nvPr/>
        </p:nvSpPr>
        <p:spPr>
          <a:xfrm>
            <a:off x="228600" y="1447800"/>
            <a:ext cx="8763000" cy="99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">
              <a:spcBef>
                <a:spcPts val="600"/>
              </a:spcBef>
              <a:buSzPts val="260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Los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modelos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VQA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están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impulsados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por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antecedentes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lenguaje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datos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entrenamiento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1116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884141" cy="6411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pic>
        <p:nvPicPr>
          <p:cNvPr id="3" name="Imagen 2" descr="Gato parado enfrente de una televisión&#10;&#10;Descripción generada automáticamente">
            <a:extLst>
              <a:ext uri="{FF2B5EF4-FFF2-40B4-BE49-F238E27FC236}">
                <a16:creationId xmlns:a16="http://schemas.microsoft.com/office/drawing/2014/main" id="{D99B74AF-F91A-3F06-86BE-23587A4A8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78" y="2667000"/>
            <a:ext cx="3281422" cy="2671011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A115D35-D35F-E505-8D53-B3364A937E4B}"/>
              </a:ext>
            </a:extLst>
          </p:cNvPr>
          <p:cNvSpPr txBox="1"/>
          <p:nvPr/>
        </p:nvSpPr>
        <p:spPr>
          <a:xfrm>
            <a:off x="4259179" y="2839453"/>
            <a:ext cx="35578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are </a:t>
            </a:r>
            <a:r>
              <a:rPr lang="es-ES" sz="2800" b="1" dirty="0" err="1"/>
              <a:t>there</a:t>
            </a:r>
            <a:r>
              <a:rPr lang="es-ES" sz="2800" b="1" dirty="0"/>
              <a:t> </a:t>
            </a:r>
            <a:r>
              <a:rPr lang="es-ES" sz="2800" b="1" dirty="0" err="1"/>
              <a:t>two</a:t>
            </a:r>
            <a:r>
              <a:rPr lang="es-ES" sz="2800" b="1" dirty="0"/>
              <a:t> </a:t>
            </a:r>
            <a:r>
              <a:rPr lang="es-ES" sz="2800" b="1" u="sng" dirty="0" err="1">
                <a:solidFill>
                  <a:schemeClr val="accent6"/>
                </a:solidFill>
              </a:rPr>
              <a:t>cat</a:t>
            </a:r>
            <a:r>
              <a:rPr lang="es-ES" sz="2800" b="1" dirty="0"/>
              <a:t>?</a:t>
            </a:r>
            <a:endParaRPr lang="es-CL" sz="2800" b="1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7025A6E-2EA0-70D1-3B4E-7E3A3BF4D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83546"/>
              </p:ext>
            </p:extLst>
          </p:nvPr>
        </p:nvGraphicFramePr>
        <p:xfrm>
          <a:off x="4259179" y="3495328"/>
          <a:ext cx="3281422" cy="1828800"/>
        </p:xfrm>
        <a:graphic>
          <a:graphicData uri="http://schemas.openxmlformats.org/drawingml/2006/table">
            <a:tbl>
              <a:tblPr/>
              <a:tblGrid>
                <a:gridCol w="1336411">
                  <a:extLst>
                    <a:ext uri="{9D8B030D-6E8A-4147-A177-3AD203B41FA5}">
                      <a16:colId xmlns:a16="http://schemas.microsoft.com/office/drawing/2014/main" val="541619676"/>
                    </a:ext>
                  </a:extLst>
                </a:gridCol>
                <a:gridCol w="1945011">
                  <a:extLst>
                    <a:ext uri="{9D8B030D-6E8A-4147-A177-3AD203B41FA5}">
                      <a16:colId xmlns:a16="http://schemas.microsoft.com/office/drawing/2014/main" val="3632382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Prediction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b="1" dirty="0" err="1">
                          <a:effectLst/>
                        </a:rPr>
                        <a:t>Confidence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055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n</a:t>
                      </a:r>
                      <a:r>
                        <a:rPr lang="es-CL" dirty="0">
                          <a:effectLst/>
                        </a:rPr>
                        <a:t>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94.9132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540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yes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5.00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047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0.084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70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gray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0.00070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078547"/>
                  </a:ext>
                </a:extLst>
              </a:tr>
            </a:tbl>
          </a:graphicData>
        </a:graphic>
      </p:graphicFrame>
      <p:sp>
        <p:nvSpPr>
          <p:cNvPr id="9" name="Diagrama de flujo: proceso 12">
            <a:extLst>
              <a:ext uri="{FF2B5EF4-FFF2-40B4-BE49-F238E27FC236}">
                <a16:creationId xmlns:a16="http://schemas.microsoft.com/office/drawing/2014/main" id="{81209400-A532-3E0C-8D6D-845BF744F036}"/>
              </a:ext>
            </a:extLst>
          </p:cNvPr>
          <p:cNvSpPr/>
          <p:nvPr/>
        </p:nvSpPr>
        <p:spPr>
          <a:xfrm>
            <a:off x="4563099" y="3906308"/>
            <a:ext cx="2540377" cy="282484"/>
          </a:xfrm>
          <a:prstGeom prst="flowChartProcess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Google Shape;73;p10">
            <a:extLst>
              <a:ext uri="{FF2B5EF4-FFF2-40B4-BE49-F238E27FC236}">
                <a16:creationId xmlns:a16="http://schemas.microsoft.com/office/drawing/2014/main" id="{EC793C0A-0D77-8687-2F2A-689B2805B820}"/>
              </a:ext>
            </a:extLst>
          </p:cNvPr>
          <p:cNvSpPr txBox="1">
            <a:spLocks/>
          </p:cNvSpPr>
          <p:nvPr/>
        </p:nvSpPr>
        <p:spPr>
          <a:xfrm>
            <a:off x="228600" y="1447800"/>
            <a:ext cx="8763000" cy="990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0">
              <a:spcBef>
                <a:spcPts val="600"/>
              </a:spcBef>
              <a:buSzPts val="2600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Los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modelos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VQA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están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impulsados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por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antecedentes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lenguaje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los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datos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entrenamiento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2375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884141" cy="6411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7D1A42-8B3D-263D-A9A5-1975ED8D1098}"/>
              </a:ext>
            </a:extLst>
          </p:cNvPr>
          <p:cNvSpPr txBox="1"/>
          <p:nvPr/>
        </p:nvSpPr>
        <p:spPr>
          <a:xfrm>
            <a:off x="521494" y="1458240"/>
            <a:ext cx="8210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indent="0">
              <a:buNone/>
            </a:pPr>
            <a:r>
              <a:rPr lang="es-CL" dirty="0">
                <a:solidFill>
                  <a:schemeClr val="bg2">
                    <a:lumMod val="10000"/>
                  </a:schemeClr>
                </a:solidFill>
              </a:rPr>
              <a:t>Falta de </a:t>
            </a:r>
            <a:r>
              <a:rPr lang="es-CL" dirty="0" err="1">
                <a:solidFill>
                  <a:schemeClr val="bg2">
                    <a:lumMod val="10000"/>
                  </a:schemeClr>
                </a:solidFill>
              </a:rPr>
              <a:t>composicionalidad</a:t>
            </a:r>
            <a:r>
              <a:rPr lang="es-CL" dirty="0">
                <a:solidFill>
                  <a:schemeClr val="bg2">
                    <a:lumMod val="10000"/>
                  </a:schemeClr>
                </a:solidFill>
              </a:rPr>
              <a:t>.</a:t>
            </a:r>
            <a:endParaRPr lang="en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3E42B0-9787-2B2C-E731-FD19FB3D3EB4}"/>
              </a:ext>
            </a:extLst>
          </p:cNvPr>
          <p:cNvSpPr txBox="1"/>
          <p:nvPr/>
        </p:nvSpPr>
        <p:spPr>
          <a:xfrm>
            <a:off x="4259178" y="2839453"/>
            <a:ext cx="54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is the color of the cat?</a:t>
            </a:r>
          </a:p>
        </p:txBody>
      </p:sp>
      <p:pic>
        <p:nvPicPr>
          <p:cNvPr id="10" name="Imagen 9" descr="Gato de color azul&#10;&#10;Descripción generada automáticamente">
            <a:extLst>
              <a:ext uri="{FF2B5EF4-FFF2-40B4-BE49-F238E27FC236}">
                <a16:creationId xmlns:a16="http://schemas.microsoft.com/office/drawing/2014/main" id="{8AF3911C-8D4D-11B5-DC96-4B8ADA5B2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31" y="2347889"/>
            <a:ext cx="3596217" cy="3619773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02E034A-5AAC-D0EA-AF2C-3851CD6A52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038361"/>
              </p:ext>
            </p:extLst>
          </p:nvPr>
        </p:nvGraphicFramePr>
        <p:xfrm>
          <a:off x="4561159" y="3357142"/>
          <a:ext cx="3435355" cy="2743200"/>
        </p:xfrm>
        <a:graphic>
          <a:graphicData uri="http://schemas.openxmlformats.org/drawingml/2006/table">
            <a:tbl>
              <a:tblPr/>
              <a:tblGrid>
                <a:gridCol w="1885320">
                  <a:extLst>
                    <a:ext uri="{9D8B030D-6E8A-4147-A177-3AD203B41FA5}">
                      <a16:colId xmlns:a16="http://schemas.microsoft.com/office/drawing/2014/main" val="4190140009"/>
                    </a:ext>
                  </a:extLst>
                </a:gridCol>
                <a:gridCol w="1550035">
                  <a:extLst>
                    <a:ext uri="{9D8B030D-6E8A-4147-A177-3AD203B41FA5}">
                      <a16:colId xmlns:a16="http://schemas.microsoft.com/office/drawing/2014/main" val="783187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>
                          <a:effectLst/>
                        </a:rPr>
                        <a:t>P</a:t>
                      </a:r>
                      <a:r>
                        <a:rPr lang="es-CL" b="1" dirty="0" err="1">
                          <a:effectLst/>
                        </a:rPr>
                        <a:t>rediction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 err="1"/>
                        <a:t>Confidence</a:t>
                      </a:r>
                      <a:endParaRPr lang="es-CL" b="1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06099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err="1">
                          <a:effectLst/>
                        </a:rPr>
                        <a:t>orange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45.680103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030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24.466681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378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orange and black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4.474331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091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black and orange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4.419116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714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gray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3.699805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6448959"/>
                  </a:ext>
                </a:extLst>
              </a:tr>
            </a:tbl>
          </a:graphicData>
        </a:graphic>
      </p:graphicFrame>
      <p:sp>
        <p:nvSpPr>
          <p:cNvPr id="12" name="Signo de multiplicación 14">
            <a:extLst>
              <a:ext uri="{FF2B5EF4-FFF2-40B4-BE49-F238E27FC236}">
                <a16:creationId xmlns:a16="http://schemas.microsoft.com/office/drawing/2014/main" id="{43B9D0C3-5448-F4ED-A484-CED25F722D39}"/>
              </a:ext>
            </a:extLst>
          </p:cNvPr>
          <p:cNvSpPr/>
          <p:nvPr/>
        </p:nvSpPr>
        <p:spPr>
          <a:xfrm>
            <a:off x="8034290" y="3417893"/>
            <a:ext cx="960657" cy="977813"/>
          </a:xfrm>
          <a:prstGeom prst="mathMultiply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80DDD3B4-6E50-CE18-3095-A169014CDD19}"/>
              </a:ext>
            </a:extLst>
          </p:cNvPr>
          <p:cNvSpPr/>
          <p:nvPr/>
        </p:nvSpPr>
        <p:spPr>
          <a:xfrm>
            <a:off x="5002992" y="3762529"/>
            <a:ext cx="2836315" cy="288539"/>
          </a:xfrm>
          <a:prstGeom prst="flowChartProcess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4652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884141" cy="64112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dirty="0"/>
              <a:t>VQA Model - Pythia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27D1A42-8B3D-263D-A9A5-1975ED8D1098}"/>
              </a:ext>
            </a:extLst>
          </p:cNvPr>
          <p:cNvSpPr txBox="1"/>
          <p:nvPr/>
        </p:nvSpPr>
        <p:spPr>
          <a:xfrm>
            <a:off x="411982" y="1444039"/>
            <a:ext cx="8210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0" indent="0">
              <a:buNone/>
            </a:pP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Las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respuestas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 son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limitadas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C0BF23-D89B-128C-04AA-ED6C527FAAC3}"/>
              </a:ext>
            </a:extLst>
          </p:cNvPr>
          <p:cNvSpPr txBox="1"/>
          <p:nvPr/>
        </p:nvSpPr>
        <p:spPr>
          <a:xfrm>
            <a:off x="4259178" y="2839453"/>
            <a:ext cx="5402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What is this?</a:t>
            </a:r>
          </a:p>
        </p:txBody>
      </p:sp>
      <p:pic>
        <p:nvPicPr>
          <p:cNvPr id="10" name="Imagen 9" descr="Imagen que contiene animal, perro, agua, boca&#10;&#10;Descripción generada automáticamente">
            <a:extLst>
              <a:ext uri="{FF2B5EF4-FFF2-40B4-BE49-F238E27FC236}">
                <a16:creationId xmlns:a16="http://schemas.microsoft.com/office/drawing/2014/main" id="{614DE9C6-1B3E-B9F0-C888-49994A93B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05" y="2219869"/>
            <a:ext cx="3615661" cy="3662402"/>
          </a:xfrm>
          <a:prstGeom prst="rect">
            <a:avLst/>
          </a:prstGeom>
        </p:spPr>
      </p:pic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FC255E7-68DA-4DBB-F2E8-BE63924B7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751673"/>
              </p:ext>
            </p:extLst>
          </p:nvPr>
        </p:nvGraphicFramePr>
        <p:xfrm>
          <a:off x="4364754" y="3502254"/>
          <a:ext cx="3826239" cy="2194560"/>
        </p:xfrm>
        <a:graphic>
          <a:graphicData uri="http://schemas.openxmlformats.org/drawingml/2006/table">
            <a:tbl>
              <a:tblPr/>
              <a:tblGrid>
                <a:gridCol w="1591456">
                  <a:extLst>
                    <a:ext uri="{9D8B030D-6E8A-4147-A177-3AD203B41FA5}">
                      <a16:colId xmlns:a16="http://schemas.microsoft.com/office/drawing/2014/main" val="1005349936"/>
                    </a:ext>
                  </a:extLst>
                </a:gridCol>
                <a:gridCol w="2234783">
                  <a:extLst>
                    <a:ext uri="{9D8B030D-6E8A-4147-A177-3AD203B41FA5}">
                      <a16:colId xmlns:a16="http://schemas.microsoft.com/office/drawing/2014/main" val="26357482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b="1" dirty="0" err="1">
                          <a:effectLst/>
                        </a:rPr>
                        <a:t>Prediction</a:t>
                      </a:r>
                      <a:endParaRPr lang="es-CL" b="1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 err="1"/>
                        <a:t>Confidence</a:t>
                      </a:r>
                      <a:endParaRPr lang="es-CL" b="1" dirty="0"/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0908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err="1">
                          <a:effectLst/>
                        </a:rPr>
                        <a:t>bird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99.938381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5789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err="1">
                          <a:effectLst/>
                        </a:rPr>
                        <a:t>duck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0.030350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88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animal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>
                          <a:effectLst/>
                        </a:rPr>
                        <a:t>0.027094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144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0.001755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245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dirty="0" err="1">
                          <a:effectLst/>
                        </a:rPr>
                        <a:t>unknown</a:t>
                      </a:r>
                      <a:endParaRPr lang="es-CL" dirty="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dirty="0">
                          <a:effectLst/>
                        </a:rPr>
                        <a:t>0.001192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670536"/>
                  </a:ext>
                </a:extLst>
              </a:tr>
            </a:tbl>
          </a:graphicData>
        </a:graphic>
      </p:graphicFrame>
      <p:sp>
        <p:nvSpPr>
          <p:cNvPr id="12" name="Signo de multiplicación 5">
            <a:extLst>
              <a:ext uri="{FF2B5EF4-FFF2-40B4-BE49-F238E27FC236}">
                <a16:creationId xmlns:a16="http://schemas.microsoft.com/office/drawing/2014/main" id="{9F3F5ED7-CDB5-39D1-5F30-FF73FA3175D2}"/>
              </a:ext>
            </a:extLst>
          </p:cNvPr>
          <p:cNvSpPr/>
          <p:nvPr/>
        </p:nvSpPr>
        <p:spPr>
          <a:xfrm>
            <a:off x="8190993" y="3502254"/>
            <a:ext cx="960657" cy="977813"/>
          </a:xfrm>
          <a:prstGeom prst="mathMultiply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Diagrama de flujo: proceso 12">
            <a:extLst>
              <a:ext uri="{FF2B5EF4-FFF2-40B4-BE49-F238E27FC236}">
                <a16:creationId xmlns:a16="http://schemas.microsoft.com/office/drawing/2014/main" id="{0CF19C6C-8439-6C1A-A001-B05F8D787715}"/>
              </a:ext>
            </a:extLst>
          </p:cNvPr>
          <p:cNvSpPr/>
          <p:nvPr/>
        </p:nvSpPr>
        <p:spPr>
          <a:xfrm>
            <a:off x="4795818" y="3906800"/>
            <a:ext cx="2910037" cy="288539"/>
          </a:xfrm>
          <a:prstGeom prst="flowChartProcess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5657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86F8E-057F-1F43-2A00-E5DA2791A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494" y="1016001"/>
            <a:ext cx="6934383" cy="641123"/>
          </a:xfrm>
        </p:spPr>
        <p:txBody>
          <a:bodyPr>
            <a:norm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Image Captioning</a:t>
            </a:r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3CE9484-9F20-0814-D319-4F5F52610F98}"/>
              </a:ext>
            </a:extLst>
          </p:cNvPr>
          <p:cNvSpPr txBox="1"/>
          <p:nvPr/>
        </p:nvSpPr>
        <p:spPr>
          <a:xfrm>
            <a:off x="602165" y="1528828"/>
            <a:ext cx="8188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dirty="0"/>
              <a:t>Dado un </a:t>
            </a:r>
            <a:r>
              <a:rPr lang="en-US" dirty="0" err="1"/>
              <a:t>contexto</a:t>
            </a:r>
            <a:r>
              <a:rPr lang="en-US" dirty="0"/>
              <a:t> visual (imagen), es </a:t>
            </a:r>
            <a:r>
              <a:rPr lang="en-US" dirty="0" err="1"/>
              <a:t>necesario</a:t>
            </a:r>
            <a:r>
              <a:rPr lang="en-US" dirty="0"/>
              <a:t> </a:t>
            </a:r>
            <a:r>
              <a:rPr lang="en-US" dirty="0" err="1"/>
              <a:t>conocer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breve </a:t>
            </a:r>
            <a:r>
              <a:rPr lang="en-US" dirty="0" err="1"/>
              <a:t>descripción</a:t>
            </a:r>
            <a:r>
              <a:rPr lang="en-US" dirty="0"/>
              <a:t> al </a:t>
            </a:r>
            <a:r>
              <a:rPr lang="en-US" dirty="0" err="1"/>
              <a:t>respecto</a:t>
            </a:r>
            <a:r>
              <a:rPr lang="en-US" dirty="0"/>
              <a:t>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34FFB55-C45D-46BC-9BC4-2B1E6EDA0E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0" t="623" r="1022" b="41912"/>
          <a:stretch/>
        </p:blipFill>
        <p:spPr>
          <a:xfrm>
            <a:off x="602165" y="2407155"/>
            <a:ext cx="3937009" cy="26395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1F01CAC-3798-C9DA-6365-2DE80B5A0E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680" t="85338" b="6881"/>
          <a:stretch/>
        </p:blipFill>
        <p:spPr>
          <a:xfrm>
            <a:off x="5313993" y="3397990"/>
            <a:ext cx="2834536" cy="36907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2750336-9688-80A0-541E-94E20FCC56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864" r="20260"/>
          <a:stretch/>
        </p:blipFill>
        <p:spPr>
          <a:xfrm>
            <a:off x="4998085" y="3786955"/>
            <a:ext cx="3476844" cy="355726"/>
          </a:xfrm>
          <a:prstGeom prst="rect">
            <a:avLst/>
          </a:prstGeom>
        </p:spPr>
      </p:pic>
      <p:sp>
        <p:nvSpPr>
          <p:cNvPr id="9" name="Cerrar llave 8">
            <a:extLst>
              <a:ext uri="{FF2B5EF4-FFF2-40B4-BE49-F238E27FC236}">
                <a16:creationId xmlns:a16="http://schemas.microsoft.com/office/drawing/2014/main" id="{4115C21F-3674-F8FA-95B9-7ED24A7D6B3E}"/>
              </a:ext>
            </a:extLst>
          </p:cNvPr>
          <p:cNvSpPr/>
          <p:nvPr/>
        </p:nvSpPr>
        <p:spPr>
          <a:xfrm>
            <a:off x="4330056" y="2267042"/>
            <a:ext cx="683258" cy="29718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A78C75-A4C8-67F3-FFDB-1FF4C37F57DD}"/>
              </a:ext>
            </a:extLst>
          </p:cNvPr>
          <p:cNvSpPr txBox="1"/>
          <p:nvPr/>
        </p:nvSpPr>
        <p:spPr>
          <a:xfrm>
            <a:off x="5584552" y="4295735"/>
            <a:ext cx="23088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Describir</a:t>
            </a:r>
            <a:r>
              <a:rPr lang="en-US" sz="1400" dirty="0"/>
              <a:t> con palabras las </a:t>
            </a:r>
            <a:r>
              <a:rPr lang="en-US" sz="1400" dirty="0" err="1"/>
              <a:t>características</a:t>
            </a:r>
            <a:r>
              <a:rPr lang="en-US" sz="1400" dirty="0"/>
              <a:t> </a:t>
            </a:r>
            <a:r>
              <a:rPr lang="en-US" sz="1400" dirty="0" err="1"/>
              <a:t>visuales</a:t>
            </a:r>
            <a:r>
              <a:rPr lang="en-US" sz="1400" dirty="0"/>
              <a:t> </a:t>
            </a:r>
            <a:r>
              <a:rPr lang="en-US" sz="1400" dirty="0" err="1"/>
              <a:t>relevantes</a:t>
            </a:r>
            <a:r>
              <a:rPr lang="en-US" sz="1400" dirty="0"/>
              <a:t>.</a:t>
            </a:r>
          </a:p>
        </p:txBody>
      </p:sp>
      <p:sp>
        <p:nvSpPr>
          <p:cNvPr id="11" name="Corchetes 10">
            <a:extLst>
              <a:ext uri="{FF2B5EF4-FFF2-40B4-BE49-F238E27FC236}">
                <a16:creationId xmlns:a16="http://schemas.microsoft.com/office/drawing/2014/main" id="{83D3A994-4A64-5787-8BE0-A525ABEC3CEF}"/>
              </a:ext>
            </a:extLst>
          </p:cNvPr>
          <p:cNvSpPr/>
          <p:nvPr/>
        </p:nvSpPr>
        <p:spPr>
          <a:xfrm>
            <a:off x="5515972" y="4277481"/>
            <a:ext cx="2446020" cy="747133"/>
          </a:xfrm>
          <a:prstGeom prst="bracket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68655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99D3ED-652C-CAF0-34BA-632B0886D66F}"/>
              </a:ext>
            </a:extLst>
          </p:cNvPr>
          <p:cNvSpPr txBox="1"/>
          <p:nvPr/>
        </p:nvSpPr>
        <p:spPr>
          <a:xfrm>
            <a:off x="470505" y="1566474"/>
            <a:ext cx="7435709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¿Por qué es importante?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2">
                    <a:lumMod val="10000"/>
                  </a:schemeClr>
                </a:solidFill>
              </a:rPr>
              <a:t>Para ayudar a las personas con discapacidad visual</a:t>
            </a:r>
            <a:endParaRPr lang="es-E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1A93CEA-32F8-BE30-DE22-A5ABE61C3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96"/>
          <a:stretch/>
        </p:blipFill>
        <p:spPr bwMode="auto">
          <a:xfrm>
            <a:off x="990600" y="2606040"/>
            <a:ext cx="7239000" cy="3375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12934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D1DE527-CE07-CEF1-A83D-D89BAF8B228D}"/>
              </a:ext>
            </a:extLst>
          </p:cNvPr>
          <p:cNvSpPr txBox="1"/>
          <p:nvPr/>
        </p:nvSpPr>
        <p:spPr>
          <a:xfrm>
            <a:off x="470505" y="1388547"/>
            <a:ext cx="8093631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¿Por qué es importante? 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CL" dirty="0">
                <a:solidFill>
                  <a:schemeClr val="bg2">
                    <a:lumMod val="10000"/>
                  </a:schemeClr>
                </a:solidFill>
              </a:rPr>
              <a:t>Para la recuperación de imágenes y la búsqueda de imágenes.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95AC78F-703E-7F4F-5200-4723E28768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2" r="68131" b="15945"/>
          <a:stretch/>
        </p:blipFill>
        <p:spPr bwMode="auto">
          <a:xfrm>
            <a:off x="6114675" y="2918461"/>
            <a:ext cx="2209800" cy="220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3C66D95-5C16-4841-9CD1-240427EFC7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6" t="81665" r="70440" b="1099"/>
          <a:stretch/>
        </p:blipFill>
        <p:spPr bwMode="auto">
          <a:xfrm>
            <a:off x="609600" y="3787141"/>
            <a:ext cx="1844040" cy="464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áfico 6" descr="Base de datos">
            <a:extLst>
              <a:ext uri="{FF2B5EF4-FFF2-40B4-BE49-F238E27FC236}">
                <a16:creationId xmlns:a16="http://schemas.microsoft.com/office/drawing/2014/main" id="{B3C4ED8B-EE82-8910-8239-F30BA17E9B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2524" y="3248213"/>
            <a:ext cx="1542674" cy="1542674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0A11582C-24F4-2EF5-2D3D-7963E25F23EE}"/>
              </a:ext>
            </a:extLst>
          </p:cNvPr>
          <p:cNvCxnSpPr>
            <a:cxnSpLocks/>
          </p:cNvCxnSpPr>
          <p:nvPr/>
        </p:nvCxnSpPr>
        <p:spPr>
          <a:xfrm>
            <a:off x="2583180" y="4019550"/>
            <a:ext cx="8881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830AEFB-C15B-D5E5-17EE-5BAF51159BDD}"/>
              </a:ext>
            </a:extLst>
          </p:cNvPr>
          <p:cNvCxnSpPr>
            <a:cxnSpLocks/>
          </p:cNvCxnSpPr>
          <p:nvPr/>
        </p:nvCxnSpPr>
        <p:spPr>
          <a:xfrm>
            <a:off x="4930140" y="4019550"/>
            <a:ext cx="8881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386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B874D88-9DA4-90EE-914D-F2A08D1320D7}"/>
              </a:ext>
            </a:extLst>
          </p:cNvPr>
          <p:cNvSpPr txBox="1"/>
          <p:nvPr/>
        </p:nvSpPr>
        <p:spPr>
          <a:xfrm>
            <a:off x="470506" y="1566474"/>
            <a:ext cx="457200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¿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Cómo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P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odemos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generar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un caption?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-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Modelo</a:t>
            </a:r>
            <a:endParaRPr lang="en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37A17A-1B12-69DE-83B7-ADA0D05C3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7" y="2447520"/>
            <a:ext cx="7689317" cy="339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05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F36317-C447-6838-67E5-4008A0FEED8F}"/>
              </a:ext>
            </a:extLst>
          </p:cNvPr>
          <p:cNvSpPr txBox="1"/>
          <p:nvPr/>
        </p:nvSpPr>
        <p:spPr>
          <a:xfrm>
            <a:off x="345687" y="1410849"/>
            <a:ext cx="53302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¿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Cómo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P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odemos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generar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un caption?</a:t>
            </a:r>
          </a:p>
          <a:p>
            <a:pPr marL="0" indent="0">
              <a:buNone/>
            </a:pPr>
            <a:r>
              <a:rPr lang="en" b="1" i="0" u="none" strike="noStrike" dirty="0">
                <a:solidFill>
                  <a:srgbClr val="000000"/>
                </a:solidFill>
                <a:effectLst/>
              </a:rPr>
              <a:t>- </a:t>
            </a:r>
            <a:r>
              <a:rPr lang="es-CL" b="0" i="0" u="none" strike="noStrike" dirty="0">
                <a:solidFill>
                  <a:srgbClr val="000000"/>
                </a:solidFill>
                <a:effectLst/>
              </a:rPr>
              <a:t>Predecir cada palabra: </a:t>
            </a:r>
            <a:r>
              <a:rPr lang="es-CL" b="1" u="sng" dirty="0" err="1">
                <a:solidFill>
                  <a:srgbClr val="222222"/>
                </a:solidFill>
                <a:effectLst/>
                <a:latin typeface="Helvetica Neue"/>
              </a:rPr>
              <a:t>Greedy</a:t>
            </a:r>
            <a:r>
              <a:rPr lang="es-CL" b="1" u="sng" dirty="0">
                <a:solidFill>
                  <a:srgbClr val="222222"/>
                </a:solidFill>
                <a:effectLst/>
                <a:latin typeface="Helvetica Neue"/>
              </a:rPr>
              <a:t> </a:t>
            </a:r>
            <a:r>
              <a:rPr lang="es-CL" b="1" u="sng" dirty="0" err="1">
                <a:solidFill>
                  <a:srgbClr val="222222"/>
                </a:solidFill>
                <a:effectLst/>
                <a:latin typeface="Helvetica Neue"/>
              </a:rPr>
              <a:t>Search</a:t>
            </a:r>
            <a:endParaRPr lang="en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6B98E90-CB87-6399-BB21-4DA73826182D}"/>
                  </a:ext>
                </a:extLst>
              </p:cNvPr>
              <p:cNvSpPr txBox="1"/>
              <p:nvPr/>
            </p:nvSpPr>
            <p:spPr>
              <a:xfrm>
                <a:off x="2286000" y="2967335"/>
                <a:ext cx="4572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𝑂𝑢𝑡</m:t>
                      </m:r>
                      <m:r>
                        <a:rPr lang="es-E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 </m:t>
                      </m:r>
                      <m:sSup>
                        <m:sSupPr>
                          <m:ctrlP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s-E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𝑁𝑥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𝑣𝑜𝑐𝑎𝑏</m:t>
                              </m:r>
                            </m:sub>
                          </m:sSub>
                        </m:sup>
                      </m:sSup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𝐶𝑎𝑝𝑡𝑖𝑜𝑛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𝑎𝑟𝑔𝑚𝑎𝑥</m:t>
                      </m:r>
                      <m:d>
                        <m:dPr>
                          <m:ctrlP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𝑂𝑢𝑡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𝑑𝑖𝑚</m:t>
                          </m:r>
                          <m:r>
                            <a:rPr lang="es-E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sSup>
                        <m:sSupPr>
                          <m:ctrlP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s-E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s-ES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ES" dirty="0"/>
              </a:p>
            </p:txBody>
          </p:sp>
        </mc:Choice>
        <mc:Fallback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6B98E90-CB87-6399-BB21-4DA738261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967335"/>
                <a:ext cx="4572000" cy="923330"/>
              </a:xfrm>
              <a:prstGeom prst="rect">
                <a:avLst/>
              </a:prstGeom>
              <a:blipFill>
                <a:blip r:embed="rId2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26784AA-37D3-787A-F954-5E7C8E2217C6}"/>
              </a:ext>
            </a:extLst>
          </p:cNvPr>
          <p:cNvSpPr txBox="1"/>
          <p:nvPr/>
        </p:nvSpPr>
        <p:spPr>
          <a:xfrm>
            <a:off x="2286000" y="447765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Pero... ¿Es la </a:t>
            </a:r>
            <a:r>
              <a:rPr lang="en-US" b="1" dirty="0" err="1">
                <a:solidFill>
                  <a:srgbClr val="FF0000"/>
                </a:solidFill>
              </a:rPr>
              <a:t>mejor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manera</a:t>
            </a:r>
            <a:r>
              <a:rPr lang="en-US" b="1" dirty="0">
                <a:solidFill>
                  <a:srgbClr val="FF0000"/>
                </a:solidFill>
              </a:rPr>
              <a:t>? </a:t>
            </a:r>
            <a:r>
              <a:rPr lang="en-US" b="1" dirty="0" err="1">
                <a:solidFill>
                  <a:srgbClr val="FF0000"/>
                </a:solidFill>
              </a:rPr>
              <a:t>Puede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repetir</a:t>
            </a:r>
            <a:r>
              <a:rPr lang="en-US" b="1" dirty="0">
                <a:solidFill>
                  <a:srgbClr val="FF0000"/>
                </a:solidFill>
              </a:rPr>
              <a:t> palabras</a:t>
            </a:r>
          </a:p>
        </p:txBody>
      </p:sp>
    </p:spTree>
    <p:extLst>
      <p:ext uri="{BB962C8B-B14F-4D97-AF65-F5344CB8AC3E}">
        <p14:creationId xmlns:p14="http://schemas.microsoft.com/office/powerpoint/2010/main" val="126789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E59D2BD-BBEC-001C-F7D6-F4CB5763D673}"/>
              </a:ext>
            </a:extLst>
          </p:cNvPr>
          <p:cNvSpPr txBox="1"/>
          <p:nvPr/>
        </p:nvSpPr>
        <p:spPr>
          <a:xfrm>
            <a:off x="356839" y="14554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¿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Cómo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P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odemos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generar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un caption?</a:t>
            </a:r>
          </a:p>
          <a:p>
            <a:r>
              <a:rPr lang="en" b="1" dirty="0"/>
              <a:t>-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Predecir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cada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 palabra: </a:t>
            </a:r>
            <a:r>
              <a:rPr lang="es-CL" b="1" u="sng" dirty="0">
                <a:solidFill>
                  <a:srgbClr val="222222"/>
                </a:solidFill>
                <a:effectLst/>
                <a:latin typeface="Helvetica Neue"/>
              </a:rPr>
              <a:t>Beam </a:t>
            </a:r>
            <a:r>
              <a:rPr lang="es-CL" b="1" u="sng" dirty="0" err="1">
                <a:solidFill>
                  <a:srgbClr val="222222"/>
                </a:solidFill>
                <a:effectLst/>
                <a:latin typeface="Helvetica Neue"/>
              </a:rPr>
              <a:t>Search</a:t>
            </a:r>
            <a:endParaRPr lang="en" b="1" u="sng" dirty="0">
              <a:solidFill>
                <a:srgbClr val="222222"/>
              </a:solidFill>
              <a:effectLst/>
              <a:latin typeface="Helvetica Neue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1FE2D1-4ADC-38FC-47CB-30AF67AD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958" y="2176579"/>
            <a:ext cx="4240084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16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58AF966-6701-9336-59D7-4163C1EDC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07" y="2230392"/>
            <a:ext cx="7239786" cy="383607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B25C0A4-4CB7-9C8B-A37B-C7C97EAEE2A0}"/>
              </a:ext>
            </a:extLst>
          </p:cNvPr>
          <p:cNvSpPr txBox="1"/>
          <p:nvPr/>
        </p:nvSpPr>
        <p:spPr>
          <a:xfrm>
            <a:off x="356839" y="145545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¿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Cómo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s-CL" b="1" dirty="0">
                <a:solidFill>
                  <a:schemeClr val="bg2">
                    <a:lumMod val="10000"/>
                  </a:schemeClr>
                </a:solidFill>
              </a:rPr>
              <a:t>P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odemos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b="1" dirty="0" err="1">
                <a:solidFill>
                  <a:schemeClr val="bg2">
                    <a:lumMod val="10000"/>
                  </a:schemeClr>
                </a:solidFill>
              </a:rPr>
              <a:t>generar</a:t>
            </a:r>
            <a:r>
              <a:rPr lang="en" b="1" dirty="0">
                <a:solidFill>
                  <a:schemeClr val="bg2">
                    <a:lumMod val="10000"/>
                  </a:schemeClr>
                </a:solidFill>
              </a:rPr>
              <a:t> un caption?</a:t>
            </a:r>
          </a:p>
          <a:p>
            <a:r>
              <a:rPr lang="en" b="1" dirty="0"/>
              <a:t>-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Predecir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" dirty="0" err="1">
                <a:solidFill>
                  <a:schemeClr val="bg2">
                    <a:lumMod val="10000"/>
                  </a:schemeClr>
                </a:solidFill>
              </a:rPr>
              <a:t>cada</a:t>
            </a:r>
            <a:r>
              <a:rPr lang="en" dirty="0">
                <a:solidFill>
                  <a:schemeClr val="bg2">
                    <a:lumMod val="10000"/>
                  </a:schemeClr>
                </a:solidFill>
              </a:rPr>
              <a:t> palabra: </a:t>
            </a:r>
            <a:r>
              <a:rPr lang="es-CL" b="1" u="sng" dirty="0">
                <a:solidFill>
                  <a:srgbClr val="222222"/>
                </a:solidFill>
                <a:effectLst/>
                <a:latin typeface="Helvetica Neue"/>
              </a:rPr>
              <a:t>Beam </a:t>
            </a:r>
            <a:r>
              <a:rPr lang="es-CL" b="1" u="sng" dirty="0" err="1">
                <a:solidFill>
                  <a:srgbClr val="222222"/>
                </a:solidFill>
                <a:effectLst/>
                <a:latin typeface="Helvetica Neue"/>
              </a:rPr>
              <a:t>Search</a:t>
            </a:r>
            <a:endParaRPr lang="en" b="1" u="sng" dirty="0">
              <a:solidFill>
                <a:srgbClr val="222222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38798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B3E0A38-396A-F09E-9FD2-7382E54562AA}"/>
              </a:ext>
            </a:extLst>
          </p:cNvPr>
          <p:cNvSpPr txBox="1">
            <a:spLocks/>
          </p:cNvSpPr>
          <p:nvPr/>
        </p:nvSpPr>
        <p:spPr>
          <a:xfrm>
            <a:off x="470506" y="925351"/>
            <a:ext cx="6934383" cy="64112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 rtl="0" eaLnBrk="1" latinLnBrk="0" hangingPunct="1">
              <a:lnSpc>
                <a:spcPts val="3100"/>
              </a:lnSpc>
              <a:spcBef>
                <a:spcPct val="0"/>
              </a:spcBef>
              <a:buNone/>
              <a:defRPr sz="28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600"/>
              </a:spcBef>
            </a:pPr>
            <a:r>
              <a:rPr lang="en" dirty="0"/>
              <a:t>Image Captioning</a:t>
            </a:r>
            <a:endParaRPr lang="en-U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E09616F-ADBD-FF06-67B4-91738646FC3E}"/>
              </a:ext>
            </a:extLst>
          </p:cNvPr>
          <p:cNvSpPr txBox="1"/>
          <p:nvPr/>
        </p:nvSpPr>
        <p:spPr>
          <a:xfrm>
            <a:off x="557561" y="1416205"/>
            <a:ext cx="623119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¿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Cómo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podemos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medir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la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calidad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</a:rPr>
              <a:t>los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 caption?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Bleu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Es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una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métrica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que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puntúa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una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escala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0 a 1.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Se centra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similitud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cadenas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No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evalúa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la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calidad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de la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traducción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3E93E9-BEE6-59BC-BFA5-D3C3A662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33" y="3429000"/>
            <a:ext cx="7089333" cy="266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025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3F030CD3-FD93-4194-D7EB-6C23F50E6F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6" r="1182"/>
          <a:stretch/>
        </p:blipFill>
        <p:spPr>
          <a:xfrm>
            <a:off x="0" y="857257"/>
            <a:ext cx="9144000" cy="514349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94EDB31-1772-F875-0F57-60C12753555F}"/>
              </a:ext>
            </a:extLst>
          </p:cNvPr>
          <p:cNvSpPr txBox="1"/>
          <p:nvPr/>
        </p:nvSpPr>
        <p:spPr>
          <a:xfrm>
            <a:off x="618564" y="1933014"/>
            <a:ext cx="321384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sz="135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0A0A31D-39F8-9F08-B921-F6F20E3F1D2F}"/>
              </a:ext>
            </a:extLst>
          </p:cNvPr>
          <p:cNvSpPr/>
          <p:nvPr/>
        </p:nvSpPr>
        <p:spPr>
          <a:xfrm>
            <a:off x="0" y="1608458"/>
            <a:ext cx="4620857" cy="3405673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80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89BF5A-3E92-17E0-457F-6041EAD8F1A6}"/>
              </a:ext>
            </a:extLst>
          </p:cNvPr>
          <p:cNvSpPr txBox="1"/>
          <p:nvPr/>
        </p:nvSpPr>
        <p:spPr>
          <a:xfrm>
            <a:off x="346861" y="1821679"/>
            <a:ext cx="4077477" cy="17440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00"/>
              </a:lnSpc>
            </a:pPr>
            <a:r>
              <a:rPr lang="es-ES" sz="3000" b="1" dirty="0">
                <a:solidFill>
                  <a:schemeClr val="bg1"/>
                </a:solidFill>
              </a:rPr>
              <a:t> Reconocimiento Visual Texto e </a:t>
            </a:r>
            <a:r>
              <a:rPr lang="es-ES" sz="3000" b="1" dirty="0" err="1">
                <a:solidFill>
                  <a:schemeClr val="bg1"/>
                </a:solidFill>
              </a:rPr>
              <a:t>imágenes</a:t>
            </a:r>
            <a:r>
              <a:rPr lang="es-ES" sz="3000" b="1" dirty="0">
                <a:solidFill>
                  <a:schemeClr val="bg1"/>
                </a:solidFill>
              </a:rPr>
              <a:t> (VQA, </a:t>
            </a:r>
            <a:r>
              <a:rPr lang="es-ES" sz="3000" b="1" dirty="0" err="1">
                <a:solidFill>
                  <a:schemeClr val="bg1"/>
                </a:solidFill>
              </a:rPr>
              <a:t>Captions</a:t>
            </a:r>
            <a:r>
              <a:rPr lang="es-ES" sz="3000" b="1" dirty="0">
                <a:solidFill>
                  <a:schemeClr val="bg1"/>
                </a:solidFill>
              </a:rPr>
              <a:t>) </a:t>
            </a:r>
            <a:endParaRPr lang="es-CL" sz="3000" b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A76C441-6CD0-1A55-7643-54BC513F40CA}"/>
              </a:ext>
            </a:extLst>
          </p:cNvPr>
          <p:cNvSpPr txBox="1"/>
          <p:nvPr/>
        </p:nvSpPr>
        <p:spPr>
          <a:xfrm>
            <a:off x="346861" y="3635210"/>
            <a:ext cx="4816810" cy="271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Aplicaciones</a:t>
            </a: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de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Inteligencia</a:t>
            </a:r>
            <a:r>
              <a:rPr lang="pt-BR" sz="1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Artificial </a:t>
            </a:r>
            <a:r>
              <a:rPr lang="pt-BR" sz="1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I</a:t>
            </a:r>
            <a:endParaRPr lang="es-CL" sz="1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41B6D3-DF8D-D14E-FA81-8EDA5312D7BB}"/>
              </a:ext>
            </a:extLst>
          </p:cNvPr>
          <p:cNvSpPr txBox="1"/>
          <p:nvPr/>
        </p:nvSpPr>
        <p:spPr>
          <a:xfrm>
            <a:off x="346861" y="4019724"/>
            <a:ext cx="4077477" cy="8261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2200"/>
              </a:lnSpc>
            </a:pPr>
            <a:r>
              <a:rPr lang="es-ES" sz="1400" dirty="0">
                <a:solidFill>
                  <a:schemeClr val="bg1"/>
                </a:solidFill>
              </a:rPr>
              <a:t>Profesor:</a:t>
            </a:r>
            <a:br>
              <a:rPr lang="es-ES" sz="1600" b="1" dirty="0">
                <a:solidFill>
                  <a:schemeClr val="bg1"/>
                </a:solidFill>
              </a:rPr>
            </a:br>
            <a:r>
              <a:rPr lang="es-ES" b="1" dirty="0">
                <a:solidFill>
                  <a:schemeClr val="bg1"/>
                </a:solidFill>
              </a:rPr>
              <a:t>Bianca Del Solar Medrano</a:t>
            </a:r>
          </a:p>
          <a:p>
            <a:pPr>
              <a:lnSpc>
                <a:spcPts val="2200"/>
              </a:lnSpc>
            </a:pPr>
            <a:r>
              <a:rPr lang="es-ES" sz="1400" dirty="0" err="1">
                <a:solidFill>
                  <a:schemeClr val="bg1"/>
                </a:solidFill>
              </a:rPr>
              <a:t>bsdelsolar@uc.cl</a:t>
            </a:r>
            <a:endParaRPr lang="es-CL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85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3695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EPIUC Profesores">
      <a:dk1>
        <a:srgbClr val="595959"/>
      </a:dk1>
      <a:lt1>
        <a:sysClr val="window" lastClr="FFFFFF"/>
      </a:lt1>
      <a:dk2>
        <a:srgbClr val="44546A"/>
      </a:dk2>
      <a:lt2>
        <a:srgbClr val="E7E6E6"/>
      </a:lt2>
      <a:accent1>
        <a:srgbClr val="0176DE"/>
      </a:accent1>
      <a:accent2>
        <a:srgbClr val="FEC60D"/>
      </a:accent2>
      <a:accent3>
        <a:srgbClr val="173F8A"/>
      </a:accent3>
      <a:accent4>
        <a:srgbClr val="4ACC33"/>
      </a:accent4>
      <a:accent5>
        <a:srgbClr val="FFA412"/>
      </a:accent5>
      <a:accent6>
        <a:srgbClr val="0B7A75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8985</TotalTime>
  <Words>880</Words>
  <Application>Microsoft Macintosh PowerPoint</Application>
  <PresentationFormat>Presentación en pantalla (4:3)</PresentationFormat>
  <Paragraphs>190</Paragraphs>
  <Slides>29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Century Gothic</vt:lpstr>
      <vt:lpstr>Helvetica Neue</vt:lpstr>
      <vt:lpstr>Tema de Office</vt:lpstr>
      <vt:lpstr>Presentación de PowerPoint</vt:lpstr>
      <vt:lpstr>Contenido</vt:lpstr>
      <vt:lpstr>¿Qué es Visual Question Answering? </vt:lpstr>
      <vt:lpstr>¿Qué es Visual Question Answering?</vt:lpstr>
      <vt:lpstr>¿Por qué es importante? </vt:lpstr>
      <vt:lpstr>¿Por qué es importante? </vt:lpstr>
      <vt:lpstr>Dataset – VQAv2</vt:lpstr>
      <vt:lpstr>Dataset – VQAv2</vt:lpstr>
      <vt:lpstr>VQA Model - Pythia</vt:lpstr>
      <vt:lpstr>Presentación de PowerPoint</vt:lpstr>
      <vt:lpstr>Presentación de PowerPoint</vt:lpstr>
      <vt:lpstr>Presentación de PowerPoint</vt:lpstr>
      <vt:lpstr>VQA Model - Pythia</vt:lpstr>
      <vt:lpstr>Problemas con los enfoques existentes</vt:lpstr>
      <vt:lpstr>Presentación de PowerPoint</vt:lpstr>
      <vt:lpstr>VQA Model - Pythia</vt:lpstr>
      <vt:lpstr>VQA Model - Pythia</vt:lpstr>
      <vt:lpstr>VQA Model - Pythia</vt:lpstr>
      <vt:lpstr>VQA Model - Pythia</vt:lpstr>
      <vt:lpstr>Image Captioning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Carlos</dc:creator>
  <cp:lastModifiedBy>Bianca Sofia Del Solar Medrano</cp:lastModifiedBy>
  <cp:revision>25</cp:revision>
  <dcterms:created xsi:type="dcterms:W3CDTF">2022-01-17T15:11:25Z</dcterms:created>
  <dcterms:modified xsi:type="dcterms:W3CDTF">2024-06-24T20:40:09Z</dcterms:modified>
</cp:coreProperties>
</file>