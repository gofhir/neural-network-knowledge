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12192000"/>
  <p:notesSz cx="6858000" cy="9144000"/>
  <p:embeddedFontLst>
    <p:embeddedFont>
      <p:font typeface="Montserrat"/>
      <p:regular r:id="rId54"/>
      <p:bold r:id="rId55"/>
      <p:italic r:id="rId56"/>
      <p:boldItalic r:id="rId57"/>
    </p:embeddedFont>
    <p:embeddedFont>
      <p:font typeface="Lora"/>
      <p:regular r:id="rId58"/>
      <p:bold r:id="rId59"/>
      <p:italic r:id="rId60"/>
      <p:boldItalic r:id="rId61"/>
    </p:embeddedFont>
    <p:embeddedFont>
      <p:font typeface="Comfortaa"/>
      <p:regular r:id="rId62"/>
      <p:bold r:id="rId63"/>
    </p:embeddedFont>
    <p:embeddedFont>
      <p:font typeface="Century Gothic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68" roundtripDataSignature="AMtx7mjckC7syx5z24MKzzB2ODylAh8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92416B-BA16-4210-8180-5A9C1A8FCF06}">
  <a:tblStyle styleId="{9E92416B-BA16-4210-8180-5A9C1A8FCF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Comfortaa-regular.fntdata"/><Relationship Id="rId61" Type="http://schemas.openxmlformats.org/officeDocument/2006/relationships/font" Target="fonts/Lora-boldItalic.fntdata"/><Relationship Id="rId20" Type="http://schemas.openxmlformats.org/officeDocument/2006/relationships/slide" Target="slides/slide14.xml"/><Relationship Id="rId64" Type="http://schemas.openxmlformats.org/officeDocument/2006/relationships/font" Target="fonts/CenturyGothic-regular.fntdata"/><Relationship Id="rId63" Type="http://schemas.openxmlformats.org/officeDocument/2006/relationships/font" Target="fonts/Comfortaa-bold.fntdata"/><Relationship Id="rId22" Type="http://schemas.openxmlformats.org/officeDocument/2006/relationships/slide" Target="slides/slide16.xml"/><Relationship Id="rId66" Type="http://schemas.openxmlformats.org/officeDocument/2006/relationships/font" Target="fonts/CenturyGothic-italic.fntdata"/><Relationship Id="rId21" Type="http://schemas.openxmlformats.org/officeDocument/2006/relationships/slide" Target="slides/slide15.xml"/><Relationship Id="rId65" Type="http://schemas.openxmlformats.org/officeDocument/2006/relationships/font" Target="fonts/CenturyGothic-bold.fntdata"/><Relationship Id="rId24" Type="http://schemas.openxmlformats.org/officeDocument/2006/relationships/slide" Target="slides/slide18.xml"/><Relationship Id="rId68" Type="http://customschemas.google.com/relationships/presentationmetadata" Target="metadata"/><Relationship Id="rId23" Type="http://schemas.openxmlformats.org/officeDocument/2006/relationships/slide" Target="slides/slide17.xml"/><Relationship Id="rId67" Type="http://schemas.openxmlformats.org/officeDocument/2006/relationships/font" Target="fonts/CenturyGothic-boldItalic.fntdata"/><Relationship Id="rId60" Type="http://schemas.openxmlformats.org/officeDocument/2006/relationships/font" Target="fonts/Lora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Montserra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9.xml"/><Relationship Id="rId59" Type="http://schemas.openxmlformats.org/officeDocument/2006/relationships/font" Target="fonts/Lora-bold.fntdata"/><Relationship Id="rId14" Type="http://schemas.openxmlformats.org/officeDocument/2006/relationships/slide" Target="slides/slide8.xml"/><Relationship Id="rId58" Type="http://schemas.openxmlformats.org/officeDocument/2006/relationships/font" Target="fonts/Lora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31281132a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431281132a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31281132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431281132a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1281132a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431281132a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31281132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431281132a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31281132a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431281132a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31281132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431281132a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31281132a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431281132a_1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31281132a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431281132a_1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31281132a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431281132a_1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31281132a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431281132a_1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31281132a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431281132a_1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31281132a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431281132a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31281132a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431281132a_1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31281132a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431281132a_1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31281132a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431281132a_1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31281132a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431281132a_1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31281132a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431281132a_1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431281132a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431281132a_1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31281132a_1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431281132a_1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431281132a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431281132a_1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31281132a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431281132a_1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431281132a_1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431281132a_1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31281132a_1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431281132a_1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431281132a_1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431281132a_1_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31281132a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431281132a_1_4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31281132a_1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431281132a_1_4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31281132a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431281132a_1_4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31281132a_1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431281132a_1_4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431281132a_1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431281132a_1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431281132a_1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431281132a_1_4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431281132a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431281132a_1_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431281132a_1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431281132a_1_4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431281132a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431281132a_1_4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431281132a_1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431281132a_1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431281132a_1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431281132a_1_5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431281132a_1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431281132a_1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431281132a_1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431281132a_1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31281132a_1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431281132a_1_5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431281132a_1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431281132a_1_6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431281132a_1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431281132a_1_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431281132a_1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431281132a_1_6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431281132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431281132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2400"/>
              <a:buNone/>
              <a:defRPr sz="2400">
                <a:solidFill>
                  <a:srgbClr val="99999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2000"/>
              <a:buNone/>
              <a:defRPr sz="2000">
                <a:solidFill>
                  <a:srgbClr val="999999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  <a:defRPr sz="1800">
                <a:solidFill>
                  <a:srgbClr val="999999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00"/>
              <a:buNone/>
              <a:defRPr sz="1600">
                <a:solidFill>
                  <a:srgbClr val="999999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00"/>
              <a:buNone/>
              <a:defRPr sz="1600">
                <a:solidFill>
                  <a:srgbClr val="999999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00"/>
              <a:buNone/>
              <a:defRPr sz="1600">
                <a:solidFill>
                  <a:srgbClr val="999999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00"/>
              <a:buNone/>
              <a:defRPr sz="1600">
                <a:solidFill>
                  <a:srgbClr val="999999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00"/>
              <a:buNone/>
              <a:defRPr sz="1600">
                <a:solidFill>
                  <a:srgbClr val="999999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00"/>
              <a:buNone/>
              <a:defRPr sz="16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://www.youtube.com/watch?v=HK6y8DAPN_0" TargetMode="External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9VvSl_swwukv_59nSvV9zRM0tvCJdquW/view" TargetMode="External"/><Relationship Id="rId5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hyperlink" Target="https://arxiv.org/pdf/2112.07804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hyperlink" Target="https://nv-tlabs.github.io/datasetGAN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hyperlink" Target="https://emojipedia.org/es/billete-con-alas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Sitio web&#10;&#10;Descripción generada automáticamente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79918" y="1950098"/>
            <a:ext cx="4767943" cy="34056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79918" y="1950097"/>
            <a:ext cx="144000" cy="3405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25150" y="2263800"/>
            <a:ext cx="4486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Generativos en Visión por Computador</a:t>
            </a:r>
            <a:endParaRPr b="1" i="0" sz="3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25149" y="4293536"/>
            <a:ext cx="40776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Profesor:</a:t>
            </a:r>
            <a:br>
              <a:rPr b="1" i="0" lang="es-E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fpcattan@uc.cl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440611" y="6463727"/>
            <a:ext cx="4252912" cy="112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“An expressive oil painting of a basketball player dunking, depicted as an explosion of a nebula.”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453" y="711265"/>
            <a:ext cx="4989021" cy="502353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97" name="Google Shape;97;p2"/>
          <p:cNvSpPr txBox="1"/>
          <p:nvPr/>
        </p:nvSpPr>
        <p:spPr>
          <a:xfrm>
            <a:off x="1612950" y="5852429"/>
            <a:ext cx="89661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s-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“An expressive oil painting of a basketball player dunking, depicted as an explosion of a nebula.”</a:t>
            </a:r>
            <a:r>
              <a:rPr b="0" i="0" lang="es-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i="0" lang="es-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Dalle 3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02" name="Google Shape;102;g3431281132a_1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431281132a_1_29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3431281132a_1_29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5" name="Google Shape;105;g3431281132a_1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7625" y="1141151"/>
            <a:ext cx="6536749" cy="45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10" name="Google Shape;110;g3431281132a_1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431281132a_1_38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3431281132a_1_38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Introducing Sora, our text-to-video model.&#10;&#10;Sora can create videos of up to 60 seconds featuring highly detailed scenes, complex camera motion, and multiple characters with vibrant emotions.&#10;&#10;We’ll be taking several important safety steps ahead of making Sora available in OpenAI’s products. We are working with red teamers — domain experts in areas like misinformation, hateful content, and bias — who are adversarially testing the model.&#10;&#10;All the clips in this video were generated directly by Sora without modification.&#10;&#10;Learn more about Sora: https://openai.com/sora&#10;&#10;Chapters:&#10;00:09 Dancing Kangaroo&#10;00:22 Snow Dogs&#10;00:43 River Birds&#10;00:55 Petri Dish Pandas&#10;01:08 Big Sur&#10;01:21 Movie Trailer Astronaut&#10;01:40 Coffee Pirates&#10;01:57 Tokyo Snow&#10;02:09 Cyberpunk Robot&#10;02:30 Candle Monster&#10;02:43 The Offroader&#10;03:04 Paper Origami&#10;03:27 Nosy Cat&#10;03:38 Woolly Mammoths&#10;03:51 Lagos&#10;04:14 Television Gallery&#10;04:37 Cloud Reader&#10;04:59 Miniature Construction &#10;05:11 Gold Rush Aerial &#10;05:38 Fairytale Furball &#10;05:49 Amalfi Coast Aerial&#10;06:12 Tokyo Tourist&#10;06:31 Blossoming Flower&#10;06:42 Art Museum &#10;07:05 Solemn Gentleman&#10;07:28 Eye Close-up&#10;07:47 Chinese New Year&#10;07:58 Surfing Otter&#10;08:17 Dalmatian in the Window&#10;08:31 Tokyo Train&#10;08:42 Zen Garden Gnome&#10;08:53 Flock of Paper Planes&#10;09:16 Lost Lone Wolf" id="113" name="Google Shape;113;g3431281132a_1_38" title="Introducing Sora — OpenAI’s text-to-video model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3250" y="935575"/>
            <a:ext cx="8865500" cy="49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18" name="Google Shape;118;g3431281132a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431281132a_1_68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3431281132a_1_68"/>
          <p:cNvSpPr txBox="1"/>
          <p:nvPr/>
        </p:nvSpPr>
        <p:spPr>
          <a:xfrm>
            <a:off x="695325" y="2755100"/>
            <a:ext cx="5521200" cy="3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entury Gothic"/>
              <a:buChar char="●"/>
            </a:pPr>
            <a:r>
              <a:rPr lang="es-ES" sz="15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Generación de imágenes (rostros, paisajes, escenas, criaturas imaginarias, situaciones)</a:t>
            </a:r>
            <a:endParaRPr sz="1500">
              <a:solidFill>
                <a:schemeClr val="lt1"/>
              </a:solidFill>
              <a:highlight>
                <a:schemeClr val="accen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Creación de texto (ChatGPT es un ejemplo basado en Transformers).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Traducción automática.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Conversión de voz.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Generación de música.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Modelado de proteínas, química y datos científicos.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3431281132a_1_68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g3431281132a_1_68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3431281132a_1_68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qué se usan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28" name="Google Shape;128;g3431281132a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431281132a_1_8"/>
          <p:cNvSpPr txBox="1"/>
          <p:nvPr/>
        </p:nvSpPr>
        <p:spPr>
          <a:xfrm>
            <a:off x="695325" y="2889025"/>
            <a:ext cx="55113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Comprender qué son los modelos generativos, específicamente para visión por computador.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Familiarizarse con distintas estrategias utilizadas para generar imágenes.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 sus utilidades en la industria.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g3431281132a_1_8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de la clase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3431281132a_1_8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3431281132a_1_8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3431281132a_1_8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38" name="Google Shape;138;g3431281132a_1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431281132a_1_106"/>
          <p:cNvSpPr txBox="1"/>
          <p:nvPr/>
        </p:nvSpPr>
        <p:spPr>
          <a:xfrm>
            <a:off x="695325" y="1427693"/>
            <a:ext cx="108015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s-E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b="1" i="0" sz="24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3431281132a_1_106"/>
          <p:cNvSpPr txBox="1"/>
          <p:nvPr/>
        </p:nvSpPr>
        <p:spPr>
          <a:xfrm>
            <a:off x="695326" y="2387148"/>
            <a:ext cx="1041900" cy="104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3431281132a_1_106"/>
          <p:cNvSpPr txBox="1"/>
          <p:nvPr/>
        </p:nvSpPr>
        <p:spPr>
          <a:xfrm>
            <a:off x="6238877" y="2387148"/>
            <a:ext cx="1041900" cy="104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3431281132a_1_106"/>
          <p:cNvSpPr txBox="1"/>
          <p:nvPr/>
        </p:nvSpPr>
        <p:spPr>
          <a:xfrm>
            <a:off x="695325" y="4800148"/>
            <a:ext cx="1041900" cy="104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g3431281132a_1_106"/>
          <p:cNvSpPr txBox="1"/>
          <p:nvPr/>
        </p:nvSpPr>
        <p:spPr>
          <a:xfrm>
            <a:off x="6238876" y="4800148"/>
            <a:ext cx="1041900" cy="104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06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431281132a_1_106"/>
          <p:cNvSpPr txBox="1"/>
          <p:nvPr/>
        </p:nvSpPr>
        <p:spPr>
          <a:xfrm>
            <a:off x="695325" y="3593648"/>
            <a:ext cx="1041900" cy="104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3431281132a_1_106"/>
          <p:cNvSpPr txBox="1"/>
          <p:nvPr/>
        </p:nvSpPr>
        <p:spPr>
          <a:xfrm>
            <a:off x="6238876" y="3593648"/>
            <a:ext cx="1041900" cy="1041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3431281132a_1_106"/>
          <p:cNvSpPr txBox="1"/>
          <p:nvPr/>
        </p:nvSpPr>
        <p:spPr>
          <a:xfrm>
            <a:off x="7280729" y="2387148"/>
            <a:ext cx="4215900" cy="104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E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Adversarial Networks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3431281132a_1_106"/>
          <p:cNvSpPr txBox="1"/>
          <p:nvPr/>
        </p:nvSpPr>
        <p:spPr>
          <a:xfrm>
            <a:off x="1737177" y="4800148"/>
            <a:ext cx="4215900" cy="104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g3431281132a_1_106"/>
          <p:cNvSpPr txBox="1"/>
          <p:nvPr/>
        </p:nvSpPr>
        <p:spPr>
          <a:xfrm>
            <a:off x="7280728" y="4800148"/>
            <a:ext cx="4215900" cy="104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E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Usos en la industria</a:t>
            </a:r>
            <a:endParaRPr b="0" i="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3431281132a_1_106"/>
          <p:cNvSpPr txBox="1"/>
          <p:nvPr/>
        </p:nvSpPr>
        <p:spPr>
          <a:xfrm>
            <a:off x="1737177" y="3593648"/>
            <a:ext cx="4215900" cy="104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generativos en CV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g3431281132a_1_106"/>
          <p:cNvSpPr txBox="1"/>
          <p:nvPr/>
        </p:nvSpPr>
        <p:spPr>
          <a:xfrm>
            <a:off x="7280725" y="3593650"/>
            <a:ext cx="4481400" cy="104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E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 + Laten/Stable diffusion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3431281132a_1_106"/>
          <p:cNvSpPr txBox="1"/>
          <p:nvPr/>
        </p:nvSpPr>
        <p:spPr>
          <a:xfrm>
            <a:off x="1737176" y="2387147"/>
            <a:ext cx="4215900" cy="104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generativos?: Motivación, Objetivos y Agenda</a:t>
            </a:r>
            <a:endParaRPr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g3431281132a_1_10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g3431281132a_1_10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58" name="Google Shape;158;g3431281132a_1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431281132a_1_47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g3431281132a_1_47"/>
          <p:cNvSpPr txBox="1"/>
          <p:nvPr/>
        </p:nvSpPr>
        <p:spPr>
          <a:xfrm>
            <a:off x="695325" y="2678900"/>
            <a:ext cx="5521200" cy="2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Aprenden la </a:t>
            </a:r>
            <a:r>
              <a:rPr b="1"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distribución de probabilidad</a:t>
            </a: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los datos de entrenamiento.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partir de eso, pueden </a:t>
            </a:r>
            <a:r>
              <a:rPr b="1"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muestrear</a:t>
            </a: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(generar) nuevas instancias realistas.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Pueden reconstruir, transformar o interpolar datos.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g3431281132a_1_47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3431281132a_1_47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67" name="Google Shape;167;g3431281132a_1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431281132a_1_89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3431281132a_1_89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g3431281132a_1_89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71" name="Google Shape;171;g3431281132a_1_89"/>
          <p:cNvGrpSpPr/>
          <p:nvPr/>
        </p:nvGrpSpPr>
        <p:grpSpPr>
          <a:xfrm>
            <a:off x="3529791" y="2969505"/>
            <a:ext cx="5132418" cy="2788339"/>
            <a:chOff x="3529788" y="2777101"/>
            <a:chExt cx="5132418" cy="2788339"/>
          </a:xfrm>
        </p:grpSpPr>
        <p:pic>
          <p:nvPicPr>
            <p:cNvPr id="172" name="Google Shape;172;g3431281132a_1_89"/>
            <p:cNvPicPr preferRelativeResize="0"/>
            <p:nvPr/>
          </p:nvPicPr>
          <p:blipFill rotWithShape="1">
            <a:blip r:embed="rId4">
              <a:alphaModFix/>
            </a:blip>
            <a:srcRect b="51872" l="0" r="0" t="0"/>
            <a:stretch/>
          </p:blipFill>
          <p:spPr>
            <a:xfrm>
              <a:off x="3818748" y="2777101"/>
              <a:ext cx="4152566" cy="1225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g3431281132a_1_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29788" y="4547930"/>
              <a:ext cx="789313" cy="809339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74" name="Google Shape;174;g3431281132a_1_89"/>
            <p:cNvCxnSpPr/>
            <p:nvPr/>
          </p:nvCxnSpPr>
          <p:spPr>
            <a:xfrm>
              <a:off x="4404173" y="4952599"/>
              <a:ext cx="56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5" name="Google Shape;175;g3431281132a_1_89"/>
            <p:cNvCxnSpPr/>
            <p:nvPr/>
          </p:nvCxnSpPr>
          <p:spPr>
            <a:xfrm>
              <a:off x="6485043" y="4952593"/>
              <a:ext cx="56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6" name="Google Shape;176;g3431281132a_1_89"/>
            <p:cNvSpPr txBox="1"/>
            <p:nvPr/>
          </p:nvSpPr>
          <p:spPr>
            <a:xfrm>
              <a:off x="7146306" y="4568594"/>
              <a:ext cx="15159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s-ES" sz="2700" u="none" cap="none" strike="noStrik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Perro</a:t>
              </a:r>
              <a:endParaRPr b="0" i="0" sz="31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77" name="Google Shape;177;g3431281132a_1_89"/>
            <p:cNvSpPr/>
            <p:nvPr/>
          </p:nvSpPr>
          <p:spPr>
            <a:xfrm rot="5400000">
              <a:off x="5114570" y="4290890"/>
              <a:ext cx="1225500" cy="13236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g3431281132a_1_89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</a:t>
            </a:r>
            <a:r>
              <a:rPr b="1" lang="es-ES" sz="24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clasificación</a:t>
            </a:r>
            <a:endParaRPr b="1" i="0" sz="2400" u="none" cap="none" strike="noStrike">
              <a:solidFill>
                <a:schemeClr val="lt1"/>
              </a:solidFill>
              <a:highlight>
                <a:schemeClr val="accen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g3431281132a_1_89"/>
          <p:cNvSpPr txBox="1"/>
          <p:nvPr/>
        </p:nvSpPr>
        <p:spPr>
          <a:xfrm>
            <a:off x="695325" y="2684000"/>
            <a:ext cx="613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Century Gothic"/>
              <a:buChar char="➔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Reconocen si algo pertenece a una distribución.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84" name="Google Shape;184;g3431281132a_1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431281132a_1_12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3431281132a_1_12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g3431281132a_1_126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g3431281132a_1_126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</a:t>
            </a:r>
            <a:r>
              <a:rPr b="1" lang="es-ES" sz="24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clasificación</a:t>
            </a:r>
            <a:endParaRPr b="1" i="0" sz="2400" u="none" cap="none" strike="noStrike">
              <a:solidFill>
                <a:schemeClr val="lt1"/>
              </a:solidFill>
              <a:highlight>
                <a:schemeClr val="accen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9" name="Google Shape;189;g3431281132a_1_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1825" y="3459025"/>
            <a:ext cx="6228351" cy="17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431281132a_1_126"/>
          <p:cNvSpPr txBox="1"/>
          <p:nvPr/>
        </p:nvSpPr>
        <p:spPr>
          <a:xfrm>
            <a:off x="695325" y="2684000"/>
            <a:ext cx="613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Century Gothic"/>
              <a:buChar char="➔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Reconocen si algo pertenece a una distribución.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195" name="Google Shape;195;g3431281132a_1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431281132a_1_145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g3431281132a_1_145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g3431281132a_1_145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3431281132a_1_145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</a:t>
            </a:r>
            <a:r>
              <a:rPr b="1" lang="es-ES" sz="24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generativos</a:t>
            </a:r>
            <a:endParaRPr b="1" i="0" sz="2400" u="none" cap="none" strike="noStrike">
              <a:solidFill>
                <a:schemeClr val="lt1"/>
              </a:solidFill>
              <a:highlight>
                <a:schemeClr val="accen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g3431281132a_1_145"/>
          <p:cNvSpPr txBox="1"/>
          <p:nvPr/>
        </p:nvSpPr>
        <p:spPr>
          <a:xfrm>
            <a:off x="695325" y="2684000"/>
            <a:ext cx="613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Century Gothic"/>
              <a:buChar char="➔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Aprenden a representar</a:t>
            </a: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una distribución.</a:t>
            </a:r>
            <a:endParaRPr/>
          </a:p>
        </p:txBody>
      </p:sp>
      <p:pic>
        <p:nvPicPr>
          <p:cNvPr id="201" name="Google Shape;201;g3431281132a_1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3487" y="3712226"/>
            <a:ext cx="7785026" cy="12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206" name="Google Shape;206;g3431281132a_1_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431281132a_1_15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g3431281132a_1_15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3431281132a_1_156"/>
          <p:cNvSpPr txBox="1"/>
          <p:nvPr/>
        </p:nvSpPr>
        <p:spPr>
          <a:xfrm>
            <a:off x="695325" y="1784825"/>
            <a:ext cx="82251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hacen los modelos generativos?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3431281132a_1_156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</a:t>
            </a:r>
            <a:r>
              <a:rPr b="1" lang="es-ES" sz="24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generativos</a:t>
            </a:r>
            <a:endParaRPr b="1" i="0" sz="2400" u="none" cap="none" strike="noStrike">
              <a:solidFill>
                <a:schemeClr val="lt1"/>
              </a:solidFill>
              <a:highlight>
                <a:schemeClr val="accen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3431281132a_1_156"/>
          <p:cNvSpPr txBox="1"/>
          <p:nvPr/>
        </p:nvSpPr>
        <p:spPr>
          <a:xfrm>
            <a:off x="695325" y="2684000"/>
            <a:ext cx="613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Century Gothic"/>
              <a:buChar char="➔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Aprenden a representar una distribución.</a:t>
            </a:r>
            <a:endParaRPr/>
          </a:p>
        </p:txBody>
      </p:sp>
      <p:grpSp>
        <p:nvGrpSpPr>
          <p:cNvPr id="212" name="Google Shape;212;g3431281132a_1_156"/>
          <p:cNvGrpSpPr/>
          <p:nvPr/>
        </p:nvGrpSpPr>
        <p:grpSpPr>
          <a:xfrm>
            <a:off x="1890836" y="3099500"/>
            <a:ext cx="7969389" cy="2875974"/>
            <a:chOff x="1890836" y="3099500"/>
            <a:chExt cx="7969389" cy="2875974"/>
          </a:xfrm>
        </p:grpSpPr>
        <p:pic>
          <p:nvPicPr>
            <p:cNvPr id="213" name="Google Shape;213;g3431281132a_1_1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0836" y="3530850"/>
              <a:ext cx="2624477" cy="2013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g3431281132a_1_1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24378" y="3099500"/>
              <a:ext cx="3835846" cy="28759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5" name="Google Shape;215;g3431281132a_1_156"/>
            <p:cNvCxnSpPr>
              <a:stCxn id="213" idx="3"/>
            </p:cNvCxnSpPr>
            <p:nvPr/>
          </p:nvCxnSpPr>
          <p:spPr>
            <a:xfrm flipH="1" rot="10800000">
              <a:off x="4515313" y="4530588"/>
              <a:ext cx="1214100" cy="6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220" name="Google Shape;220;g3431281132a_1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431281132a_1_81"/>
          <p:cNvSpPr txBox="1"/>
          <p:nvPr/>
        </p:nvSpPr>
        <p:spPr>
          <a:xfrm>
            <a:off x="695325" y="1784825"/>
            <a:ext cx="521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generativos en CV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g3431281132a_1_81"/>
          <p:cNvSpPr txBox="1"/>
          <p:nvPr/>
        </p:nvSpPr>
        <p:spPr>
          <a:xfrm>
            <a:off x="695325" y="2678906"/>
            <a:ext cx="4741800" cy="3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AutoNum type="arabicPeriod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AutoNum type="arabicPeriod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Adversarial Networks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AutoNum type="arabicPeriod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Century Gothic"/>
              <a:buAutoNum type="arabicPeriod"/>
            </a:pPr>
            <a:r>
              <a:rPr lang="es-E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Latent / Stable Diffusion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3431281132a_1_8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3431281132a_1_8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229" name="Google Shape;229;g3431281132a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431281132a_1_56"/>
          <p:cNvSpPr txBox="1"/>
          <p:nvPr/>
        </p:nvSpPr>
        <p:spPr>
          <a:xfrm>
            <a:off x="695325" y="1784825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</a:t>
            </a: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3431281132a_1_56"/>
          <p:cNvSpPr txBox="1"/>
          <p:nvPr/>
        </p:nvSpPr>
        <p:spPr>
          <a:xfrm>
            <a:off x="695325" y="2889025"/>
            <a:ext cx="6291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Arquitectura de redes neuronales donde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se comprime y luego descomprime información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generando así una representación intermedia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y comprimida de esta (</a:t>
            </a:r>
            <a:r>
              <a:rPr b="1" i="1" lang="es-ES" sz="1500">
                <a:latin typeface="Century Gothic"/>
                <a:ea typeface="Century Gothic"/>
                <a:cs typeface="Century Gothic"/>
                <a:sym typeface="Century Gothic"/>
              </a:rPr>
              <a:t>espacio latente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g3431281132a_1_56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3431281132a_1_5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3431281132a_1_5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35" name="Google Shape;235;g3431281132a_1_56"/>
          <p:cNvGrpSpPr/>
          <p:nvPr/>
        </p:nvGrpSpPr>
        <p:grpSpPr>
          <a:xfrm>
            <a:off x="1993775" y="4150225"/>
            <a:ext cx="8204425" cy="1624325"/>
            <a:chOff x="467450" y="2176700"/>
            <a:chExt cx="8204425" cy="1624325"/>
          </a:xfrm>
        </p:grpSpPr>
        <p:sp>
          <p:nvSpPr>
            <p:cNvPr id="236" name="Google Shape;236;g3431281132a_1_56"/>
            <p:cNvSpPr/>
            <p:nvPr/>
          </p:nvSpPr>
          <p:spPr>
            <a:xfrm rot="5400000">
              <a:off x="2303971" y="2111450"/>
              <a:ext cx="1624200" cy="17547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431281132a_1_56"/>
            <p:cNvSpPr/>
            <p:nvPr/>
          </p:nvSpPr>
          <p:spPr>
            <a:xfrm rot="-5400000">
              <a:off x="5215830" y="2111575"/>
              <a:ext cx="1624200" cy="1754700"/>
            </a:xfrm>
            <a:prstGeom prst="trapezoid">
              <a:avLst>
                <a:gd fmla="val 25000" name="adj"/>
              </a:avLst>
            </a:prstGeom>
            <a:solidFill>
              <a:srgbClr val="B4A7D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" name="Google Shape;238;g3431281132a_1_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7450" y="2409024"/>
              <a:ext cx="1005275" cy="1030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39" name="Google Shape;239;g3431281132a_1_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66600" y="2409024"/>
              <a:ext cx="1005275" cy="1030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0" name="Google Shape;240;g3431281132a_1_56"/>
            <p:cNvSpPr/>
            <p:nvPr/>
          </p:nvSpPr>
          <p:spPr>
            <a:xfrm rot="5400000">
              <a:off x="4069350" y="2819575"/>
              <a:ext cx="1005300" cy="209700"/>
            </a:xfrm>
            <a:prstGeom prst="rect">
              <a:avLst/>
            </a:prstGeom>
            <a:solidFill>
              <a:srgbClr val="A4C2F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g3431281132a_1_56"/>
            <p:cNvCxnSpPr/>
            <p:nvPr/>
          </p:nvCxnSpPr>
          <p:spPr>
            <a:xfrm>
              <a:off x="1617975" y="2917375"/>
              <a:ext cx="483900" cy="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" name="Google Shape;242;g3431281132a_1_56"/>
            <p:cNvCxnSpPr/>
            <p:nvPr/>
          </p:nvCxnSpPr>
          <p:spPr>
            <a:xfrm>
              <a:off x="7043988" y="2917375"/>
              <a:ext cx="483900" cy="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3" name="Google Shape;243;g3431281132a_1_56"/>
            <p:cNvCxnSpPr/>
            <p:nvPr/>
          </p:nvCxnSpPr>
          <p:spPr>
            <a:xfrm>
              <a:off x="4747050" y="2916625"/>
              <a:ext cx="333300" cy="6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4" name="Google Shape;244;g3431281132a_1_56"/>
            <p:cNvCxnSpPr/>
            <p:nvPr/>
          </p:nvCxnSpPr>
          <p:spPr>
            <a:xfrm>
              <a:off x="4063638" y="2916625"/>
              <a:ext cx="333300" cy="63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249" name="Google Shape;249;g3431281132a_1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431281132a_1_189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</a:t>
            </a: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g3431281132a_1_189"/>
          <p:cNvSpPr txBox="1"/>
          <p:nvPr/>
        </p:nvSpPr>
        <p:spPr>
          <a:xfrm>
            <a:off x="695325" y="1872650"/>
            <a:ext cx="6291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Arquitectura de redes neuronales donde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se comprime y luego descomprime información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generando así una representación intermedia y comprimida de esta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 (</a:t>
            </a:r>
            <a:r>
              <a:rPr b="1" i="1" lang="es-ES" sz="1500">
                <a:latin typeface="Century Gothic"/>
                <a:ea typeface="Century Gothic"/>
                <a:cs typeface="Century Gothic"/>
                <a:sym typeface="Century Gothic"/>
              </a:rPr>
              <a:t>espacio latente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g3431281132a_1_189"/>
          <p:cNvSpPr txBox="1"/>
          <p:nvPr/>
        </p:nvSpPr>
        <p:spPr>
          <a:xfrm>
            <a:off x="695325" y="1231525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3431281132a_1_189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g3431281132a_1_189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g3431281132a_1_189"/>
          <p:cNvSpPr/>
          <p:nvPr/>
        </p:nvSpPr>
        <p:spPr>
          <a:xfrm rot="5400000">
            <a:off x="3837134" y="3502800"/>
            <a:ext cx="1624200" cy="1754700"/>
          </a:xfrm>
          <a:prstGeom prst="trapezoid">
            <a:avLst>
              <a:gd fmla="val 25000" name="adj"/>
            </a:avLst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431281132a_1_189"/>
          <p:cNvSpPr/>
          <p:nvPr/>
        </p:nvSpPr>
        <p:spPr>
          <a:xfrm rot="-5400000">
            <a:off x="6748993" y="3502925"/>
            <a:ext cx="1624200" cy="1754700"/>
          </a:xfrm>
          <a:prstGeom prst="trapezoid">
            <a:avLst>
              <a:gd fmla="val 25000" name="adj"/>
            </a:avLst>
          </a:prstGeom>
          <a:solidFill>
            <a:srgbClr val="B4A7D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g3431281132a_1_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613" y="3800374"/>
            <a:ext cx="1005275" cy="1030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g3431281132a_1_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9763" y="3800374"/>
            <a:ext cx="1005275" cy="1030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g3431281132a_1_189"/>
          <p:cNvSpPr/>
          <p:nvPr/>
        </p:nvSpPr>
        <p:spPr>
          <a:xfrm rot="5400000">
            <a:off x="5602513" y="4210925"/>
            <a:ext cx="1005300" cy="209700"/>
          </a:xfrm>
          <a:prstGeom prst="rect">
            <a:avLst/>
          </a:prstGeom>
          <a:solidFill>
            <a:srgbClr val="A4C2F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g3431281132a_1_189"/>
          <p:cNvCxnSpPr/>
          <p:nvPr/>
        </p:nvCxnSpPr>
        <p:spPr>
          <a:xfrm>
            <a:off x="3151138" y="4308725"/>
            <a:ext cx="4839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g3431281132a_1_189"/>
          <p:cNvCxnSpPr/>
          <p:nvPr/>
        </p:nvCxnSpPr>
        <p:spPr>
          <a:xfrm>
            <a:off x="8577151" y="4308725"/>
            <a:ext cx="4839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g3431281132a_1_189"/>
          <p:cNvCxnSpPr/>
          <p:nvPr/>
        </p:nvCxnSpPr>
        <p:spPr>
          <a:xfrm>
            <a:off x="6280213" y="4307975"/>
            <a:ext cx="3333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g3431281132a_1_189"/>
          <p:cNvCxnSpPr/>
          <p:nvPr/>
        </p:nvCxnSpPr>
        <p:spPr>
          <a:xfrm>
            <a:off x="5596801" y="4307975"/>
            <a:ext cx="3333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g3431281132a_1_189"/>
          <p:cNvSpPr txBox="1"/>
          <p:nvPr/>
        </p:nvSpPr>
        <p:spPr>
          <a:xfrm>
            <a:off x="4146588" y="5599850"/>
            <a:ext cx="1005300" cy="40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431281132a_1_189"/>
          <p:cNvSpPr txBox="1"/>
          <p:nvPr/>
        </p:nvSpPr>
        <p:spPr>
          <a:xfrm>
            <a:off x="7058438" y="5599850"/>
            <a:ext cx="1005300" cy="40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6" name="Google Shape;266;g3431281132a_1_189"/>
          <p:cNvCxnSpPr>
            <a:stCxn id="264" idx="0"/>
            <a:endCxn id="255" idx="3"/>
          </p:cNvCxnSpPr>
          <p:nvPr/>
        </p:nvCxnSpPr>
        <p:spPr>
          <a:xfrm rot="10800000">
            <a:off x="4649238" y="4989350"/>
            <a:ext cx="0" cy="6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g3431281132a_1_189"/>
          <p:cNvCxnSpPr>
            <a:stCxn id="265" idx="0"/>
            <a:endCxn id="256" idx="1"/>
          </p:cNvCxnSpPr>
          <p:nvPr/>
        </p:nvCxnSpPr>
        <p:spPr>
          <a:xfrm rot="10800000">
            <a:off x="7561088" y="4989350"/>
            <a:ext cx="0" cy="6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g3431281132a_1_189"/>
          <p:cNvSpPr txBox="1"/>
          <p:nvPr/>
        </p:nvSpPr>
        <p:spPr>
          <a:xfrm>
            <a:off x="5327263" y="2741650"/>
            <a:ext cx="1555800" cy="923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Representación comprimida de los datos (</a:t>
            </a:r>
            <a:r>
              <a:rPr b="1" i="0" lang="es-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espacio latente</a:t>
            </a:r>
            <a:r>
              <a:rPr b="0" i="0" lang="es-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9" name="Google Shape;269;g3431281132a_1_189"/>
          <p:cNvCxnSpPr>
            <a:stCxn id="268" idx="2"/>
            <a:endCxn id="259" idx="1"/>
          </p:cNvCxnSpPr>
          <p:nvPr/>
        </p:nvCxnSpPr>
        <p:spPr>
          <a:xfrm>
            <a:off x="6105163" y="3665050"/>
            <a:ext cx="0" cy="1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g3431281132a_1_189"/>
          <p:cNvSpPr txBox="1"/>
          <p:nvPr/>
        </p:nvSpPr>
        <p:spPr>
          <a:xfrm>
            <a:off x="1973288" y="4910675"/>
            <a:ext cx="1032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256x256x3</a:t>
            </a:r>
            <a:endParaRPr b="0" i="0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1" name="Google Shape;271;g3431281132a_1_189"/>
          <p:cNvSpPr txBox="1"/>
          <p:nvPr/>
        </p:nvSpPr>
        <p:spPr>
          <a:xfrm>
            <a:off x="9186101" y="4910675"/>
            <a:ext cx="1032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256x256x3</a:t>
            </a:r>
            <a:endParaRPr b="0" i="0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2" name="Google Shape;272;g3431281132a_1_189"/>
          <p:cNvSpPr txBox="1"/>
          <p:nvPr/>
        </p:nvSpPr>
        <p:spPr>
          <a:xfrm>
            <a:off x="5588863" y="4910675"/>
            <a:ext cx="1032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64x64x3</a:t>
            </a:r>
            <a:endParaRPr b="0" i="0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277" name="Google Shape;277;g3431281132a_1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431281132a_1_322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g3431281132a_1_322"/>
          <p:cNvSpPr txBox="1"/>
          <p:nvPr/>
        </p:nvSpPr>
        <p:spPr>
          <a:xfrm>
            <a:off x="695325" y="1872650"/>
            <a:ext cx="6291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Arquitectura de redes neuronales donde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se comprime y luego descomprime información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, generando así una representación intermedia y comprimida de esta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 (</a:t>
            </a:r>
            <a:r>
              <a:rPr b="1" i="1" lang="es-ES" sz="1500">
                <a:latin typeface="Century Gothic"/>
                <a:ea typeface="Century Gothic"/>
                <a:cs typeface="Century Gothic"/>
                <a:sym typeface="Century Gothic"/>
              </a:rPr>
              <a:t>espacio latente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g3431281132a_1_322"/>
          <p:cNvSpPr txBox="1"/>
          <p:nvPr/>
        </p:nvSpPr>
        <p:spPr>
          <a:xfrm>
            <a:off x="695325" y="1231525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3431281132a_1_322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g3431281132a_1_322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g3431281132a_1_322"/>
          <p:cNvSpPr/>
          <p:nvPr/>
        </p:nvSpPr>
        <p:spPr>
          <a:xfrm rot="5400000">
            <a:off x="3837134" y="3502800"/>
            <a:ext cx="1624200" cy="1754700"/>
          </a:xfrm>
          <a:prstGeom prst="trapezoid">
            <a:avLst>
              <a:gd fmla="val 25000" name="adj"/>
            </a:avLst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431281132a_1_322"/>
          <p:cNvSpPr/>
          <p:nvPr/>
        </p:nvSpPr>
        <p:spPr>
          <a:xfrm rot="-5400000">
            <a:off x="6748993" y="3502925"/>
            <a:ext cx="1624200" cy="1754700"/>
          </a:xfrm>
          <a:prstGeom prst="trapezoid">
            <a:avLst>
              <a:gd fmla="val 25000" name="adj"/>
            </a:avLst>
          </a:prstGeom>
          <a:solidFill>
            <a:srgbClr val="B4A7D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g3431281132a_1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613" y="3800374"/>
            <a:ext cx="1005275" cy="1030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6" name="Google Shape;286;g3431281132a_1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9763" y="3800374"/>
            <a:ext cx="1005275" cy="10308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g3431281132a_1_322"/>
          <p:cNvSpPr/>
          <p:nvPr/>
        </p:nvSpPr>
        <p:spPr>
          <a:xfrm rot="5400000">
            <a:off x="5602513" y="4210925"/>
            <a:ext cx="1005300" cy="209700"/>
          </a:xfrm>
          <a:prstGeom prst="rect">
            <a:avLst/>
          </a:prstGeom>
          <a:solidFill>
            <a:srgbClr val="A4C2F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431281132a_1_322"/>
          <p:cNvCxnSpPr/>
          <p:nvPr/>
        </p:nvCxnSpPr>
        <p:spPr>
          <a:xfrm>
            <a:off x="3151138" y="4308725"/>
            <a:ext cx="4839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g3431281132a_1_322"/>
          <p:cNvCxnSpPr/>
          <p:nvPr/>
        </p:nvCxnSpPr>
        <p:spPr>
          <a:xfrm>
            <a:off x="8577151" y="4308725"/>
            <a:ext cx="4839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g3431281132a_1_322"/>
          <p:cNvCxnSpPr/>
          <p:nvPr/>
        </p:nvCxnSpPr>
        <p:spPr>
          <a:xfrm>
            <a:off x="6280213" y="4307975"/>
            <a:ext cx="3333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g3431281132a_1_322"/>
          <p:cNvCxnSpPr/>
          <p:nvPr/>
        </p:nvCxnSpPr>
        <p:spPr>
          <a:xfrm>
            <a:off x="5596801" y="4307975"/>
            <a:ext cx="3333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g3431281132a_1_322"/>
          <p:cNvSpPr txBox="1"/>
          <p:nvPr/>
        </p:nvSpPr>
        <p:spPr>
          <a:xfrm>
            <a:off x="4146588" y="5599850"/>
            <a:ext cx="1005300" cy="40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g3431281132a_1_322"/>
          <p:cNvSpPr txBox="1"/>
          <p:nvPr/>
        </p:nvSpPr>
        <p:spPr>
          <a:xfrm>
            <a:off x="7058438" y="5599850"/>
            <a:ext cx="1005300" cy="40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4" name="Google Shape;294;g3431281132a_1_322"/>
          <p:cNvCxnSpPr>
            <a:stCxn id="292" idx="0"/>
            <a:endCxn id="283" idx="3"/>
          </p:cNvCxnSpPr>
          <p:nvPr/>
        </p:nvCxnSpPr>
        <p:spPr>
          <a:xfrm rot="10800000">
            <a:off x="4649238" y="4989350"/>
            <a:ext cx="0" cy="6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g3431281132a_1_322"/>
          <p:cNvCxnSpPr>
            <a:stCxn id="293" idx="0"/>
            <a:endCxn id="284" idx="1"/>
          </p:cNvCxnSpPr>
          <p:nvPr/>
        </p:nvCxnSpPr>
        <p:spPr>
          <a:xfrm rot="10800000">
            <a:off x="7561088" y="4989350"/>
            <a:ext cx="0" cy="6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g3431281132a_1_322"/>
          <p:cNvSpPr txBox="1"/>
          <p:nvPr/>
        </p:nvSpPr>
        <p:spPr>
          <a:xfrm>
            <a:off x="5327263" y="2741650"/>
            <a:ext cx="1555800" cy="923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Representación comprimida de los datos (</a:t>
            </a:r>
            <a:r>
              <a:rPr b="1" i="0" lang="es-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espacio latente</a:t>
            </a:r>
            <a:r>
              <a:rPr b="0" i="0" lang="es-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7" name="Google Shape;297;g3431281132a_1_322"/>
          <p:cNvCxnSpPr>
            <a:stCxn id="296" idx="2"/>
            <a:endCxn id="287" idx="1"/>
          </p:cNvCxnSpPr>
          <p:nvPr/>
        </p:nvCxnSpPr>
        <p:spPr>
          <a:xfrm>
            <a:off x="6105163" y="3665050"/>
            <a:ext cx="0" cy="14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g3431281132a_1_322"/>
          <p:cNvSpPr txBox="1"/>
          <p:nvPr/>
        </p:nvSpPr>
        <p:spPr>
          <a:xfrm>
            <a:off x="1973288" y="4910675"/>
            <a:ext cx="1032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256x256x3</a:t>
            </a:r>
            <a:endParaRPr b="0" i="0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9" name="Google Shape;299;g3431281132a_1_322"/>
          <p:cNvSpPr txBox="1"/>
          <p:nvPr/>
        </p:nvSpPr>
        <p:spPr>
          <a:xfrm>
            <a:off x="9186101" y="4910675"/>
            <a:ext cx="1032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256x256x3</a:t>
            </a:r>
            <a:endParaRPr b="0" i="0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0" name="Google Shape;300;g3431281132a_1_322"/>
          <p:cNvSpPr txBox="1"/>
          <p:nvPr/>
        </p:nvSpPr>
        <p:spPr>
          <a:xfrm>
            <a:off x="5588863" y="4910675"/>
            <a:ext cx="1032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64x64x3</a:t>
            </a:r>
            <a:endParaRPr b="0" i="0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1" name="Google Shape;301;g3431281132a_1_322"/>
          <p:cNvSpPr txBox="1"/>
          <p:nvPr/>
        </p:nvSpPr>
        <p:spPr>
          <a:xfrm>
            <a:off x="8318425" y="1712300"/>
            <a:ext cx="3000000" cy="14775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Espacio latente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es 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espacio matemático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en el que se representan las características internas o abstractas de los datos de forma compacta.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06" name="Google Shape;306;g3431281132a_1_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431281132a_1_226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</a:t>
            </a: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g3431281132a_1_226"/>
          <p:cNvSpPr txBox="1"/>
          <p:nvPr/>
        </p:nvSpPr>
        <p:spPr>
          <a:xfrm>
            <a:off x="695325" y="1231525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g3431281132a_1_22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3431281132a_1_22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1" name="Google Shape;311;g3431281132a_1_2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8493" y="1766325"/>
            <a:ext cx="8795013" cy="4182775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16" name="Google Shape;316;g3431281132a_1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431281132a_1_254"/>
          <p:cNvSpPr txBox="1"/>
          <p:nvPr/>
        </p:nvSpPr>
        <p:spPr>
          <a:xfrm>
            <a:off x="695325" y="1784825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3431281132a_1_254"/>
          <p:cNvSpPr txBox="1"/>
          <p:nvPr/>
        </p:nvSpPr>
        <p:spPr>
          <a:xfrm>
            <a:off x="695325" y="2812825"/>
            <a:ext cx="62910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Reformulación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de la arquitectura de los autoencoders,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que permite convertirlos en modelos generativos.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g3431281132a_1_254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Variational </a:t>
            </a: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 (VAEs)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g3431281132a_1_25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g3431281132a_1_25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2" name="Google Shape;322;g3431281132a_1_2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8874" y="3505200"/>
            <a:ext cx="5234250" cy="28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27" name="Google Shape;327;g3431281132a_1_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431281132a_1_274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g3431281132a_1_274"/>
          <p:cNvSpPr txBox="1"/>
          <p:nvPr/>
        </p:nvSpPr>
        <p:spPr>
          <a:xfrm>
            <a:off x="695325" y="1231525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Variational Autoencoder (VAEs)</a:t>
            </a:r>
            <a:endParaRPr b="1" sz="2400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g3431281132a_1_27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g3431281132a_1_27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2" name="Google Shape;332;g3431281132a_1_2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6900" y="1824037"/>
            <a:ext cx="9118198" cy="4225199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37" name="Google Shape;337;g3431281132a_1_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431281132a_1_28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9" name="Google Shape;339;g3431281132a_1_28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0" name="Google Shape;340;g3431281132a_1_2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0813" y="3282750"/>
            <a:ext cx="5070374" cy="273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431281132a_1_284"/>
          <p:cNvSpPr txBox="1"/>
          <p:nvPr/>
        </p:nvSpPr>
        <p:spPr>
          <a:xfrm>
            <a:off x="695325" y="1784825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3431281132a_1_284"/>
          <p:cNvSpPr txBox="1"/>
          <p:nvPr/>
        </p:nvSpPr>
        <p:spPr>
          <a:xfrm>
            <a:off x="695325" y="2790350"/>
            <a:ext cx="6291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Espacio latente contínuo: permite interpolación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3" name="Google Shape;343;g3431281132a_1_284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Espacio latente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48" name="Google Shape;348;g3431281132a_1_2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431281132a_1_297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3431281132a_1_297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g3431281132a_1_297"/>
          <p:cNvSpPr txBox="1"/>
          <p:nvPr/>
        </p:nvSpPr>
        <p:spPr>
          <a:xfrm>
            <a:off x="695325" y="1784825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Autoencoders / Variational Autoencoders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g3431281132a_1_297"/>
          <p:cNvSpPr txBox="1"/>
          <p:nvPr/>
        </p:nvSpPr>
        <p:spPr>
          <a:xfrm>
            <a:off x="695325" y="2790350"/>
            <a:ext cx="6291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Espacio latente contínuo: permite interpolación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g3431281132a_1_297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Espacio latente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4" name="Google Shape;354;g3431281132a_1_297" title="latent_spac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7650" y="3126113"/>
            <a:ext cx="5476691" cy="308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59" name="Google Shape;359;g3431281132a_1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431281132a_1_170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Adversarial Networks (GANs)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g3431281132a_1_170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g3431281132a_1_170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3" name="Google Shape;363;g3431281132a_1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3450" y="2906888"/>
            <a:ext cx="3345100" cy="333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431281132a_1_170"/>
          <p:cNvSpPr txBox="1"/>
          <p:nvPr/>
        </p:nvSpPr>
        <p:spPr>
          <a:xfrm>
            <a:off x="695325" y="2355625"/>
            <a:ext cx="67449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Arquitectura de modelo generativo donde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se entrenan en conjunto un generador y un clasificador, mediante una competencia entre ambos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69" name="Google Shape;369;g3431281132a_1_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431281132a_1_361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Adversarial Networks (GANs)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g3431281132a_1_36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g3431281132a_1_36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3" name="Google Shape;373;g3431281132a_1_3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263" y="1633125"/>
            <a:ext cx="9027474" cy="38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78" name="Google Shape;378;g3431281132a_1_3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431281132a_1_371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Adversarial Networks (GANs)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g3431281132a_1_37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g3431281132a_1_37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2" name="Google Shape;382;g3431281132a_1_3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2263" y="1633125"/>
            <a:ext cx="9027474" cy="38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431281132a_1_371"/>
          <p:cNvSpPr txBox="1"/>
          <p:nvPr/>
        </p:nvSpPr>
        <p:spPr>
          <a:xfrm>
            <a:off x="9048625" y="5506125"/>
            <a:ext cx="1993200" cy="4155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¡Te voy a </a:t>
            </a:r>
            <a:r>
              <a:rPr lang="es-ES" sz="15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engañar!</a:t>
            </a:r>
            <a:endParaRPr sz="1500">
              <a:solidFill>
                <a:schemeClr val="lt1"/>
              </a:solidFill>
              <a:highlight>
                <a:schemeClr val="accent1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4" name="Google Shape;384;g3431281132a_1_371"/>
          <p:cNvSpPr txBox="1"/>
          <p:nvPr/>
        </p:nvSpPr>
        <p:spPr>
          <a:xfrm>
            <a:off x="9048625" y="1154500"/>
            <a:ext cx="1993200" cy="681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lt1"/>
                </a:solidFill>
                <a:highlight>
                  <a:schemeClr val="accen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¡Voy a detectar tu falsedad!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389" name="Google Shape;389;g3431281132a_1_3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431281132a_1_381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Adversarial Networks (GANs)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g3431281132a_1_38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g3431281132a_1_38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3" name="Google Shape;393;g3431281132a_1_381" title="[0,0,0,&quot;https://www.codecogs.com/eqnedit.php?latex=%20%5Cbegin%7Barray%7D%7Brl%7D%5Cmin_G%20%5Cmax_D%20%26%20V(D%2C%20G)%3A%3D%5Cmathbb%7BE%7D_%7Bx%20%5Csim%20p_%7B%5Cmathrm%7Bdata%7D%7D(x)%7D%5B%5Clog(D(x))%5D%20%2B%20%5Cmathbb%7BE%7D_%7Bz%20%5Csim%20p_z(z)%7D%5B%5Clog(1-D(G(z)))%5D%5Cend%7Barray%7D%20#0&quot;]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698" y="2398498"/>
            <a:ext cx="10086606" cy="3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431281132a_1_381"/>
          <p:cNvSpPr txBox="1"/>
          <p:nvPr/>
        </p:nvSpPr>
        <p:spPr>
          <a:xfrm>
            <a:off x="1835700" y="3057778"/>
            <a:ext cx="8520600" cy="29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Ruido / Vector Latente (modelado por una normal)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: Datos reales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: Generador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Discriminador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G(z)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Datos sintéticos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D(x)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Discriminador evaluando datos reales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D(G(z))</a:t>
            </a:r>
            <a:r>
              <a:rPr lang="es-ES"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Discriminador evaluando datos sintéticos</a:t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5" name="Google Shape;395;g3431281132a_1_381"/>
          <p:cNvSpPr txBox="1"/>
          <p:nvPr/>
        </p:nvSpPr>
        <p:spPr>
          <a:xfrm>
            <a:off x="695325" y="1231525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Función de pérdida</a:t>
            </a:r>
            <a:endParaRPr b="1" sz="2400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00" name="Google Shape;400;g3431281132a_1_3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431281132a_1_394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g3431281132a_1_39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g3431281132a_1_39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4" name="Google Shape;404;g3431281132a_1_394"/>
          <p:cNvSpPr txBox="1"/>
          <p:nvPr/>
        </p:nvSpPr>
        <p:spPr>
          <a:xfrm>
            <a:off x="695325" y="2355625"/>
            <a:ext cx="67449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Modelo generativo que se construye diseñando 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procedimiento para gradualmente convertir datos en ruido, y luego entrenar una red neuronal que aprenda a invertir este proceso paso a paso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5" name="Google Shape;405;g3431281132a_1_3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550" y="3626425"/>
            <a:ext cx="10776900" cy="13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10" name="Google Shape;410;g3431281132a_1_4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431281132a_1_404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g3431281132a_1_40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g3431281132a_1_40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4" name="Google Shape;414;g3431281132a_1_404"/>
          <p:cNvSpPr txBox="1"/>
          <p:nvPr/>
        </p:nvSpPr>
        <p:spPr>
          <a:xfrm>
            <a:off x="695325" y="2355625"/>
            <a:ext cx="67449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Modelo generativo que se construye diseñando 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procedimiento para gradualmente convertir datos en ruido, y luego entrenar una red neuronal que aprenda a invertir este proceso paso a paso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5" name="Google Shape;415;g3431281132a_1_404"/>
          <p:cNvPicPr preferRelativeResize="0"/>
          <p:nvPr/>
        </p:nvPicPr>
        <p:blipFill rotWithShape="1">
          <a:blip r:embed="rId4">
            <a:alphaModFix/>
          </a:blip>
          <a:srcRect b="0" l="0" r="507" t="0"/>
          <a:stretch/>
        </p:blipFill>
        <p:spPr>
          <a:xfrm>
            <a:off x="688377" y="3512437"/>
            <a:ext cx="10815247" cy="19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20" name="Google Shape;420;g3431281132a_1_4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431281132a_1_414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g3431281132a_1_41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g3431281132a_1_41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g3431281132a_1_414"/>
          <p:cNvSpPr txBox="1"/>
          <p:nvPr/>
        </p:nvSpPr>
        <p:spPr>
          <a:xfrm>
            <a:off x="695325" y="2355625"/>
            <a:ext cx="67449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Modelo generativo que se construye diseñando 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procedimiento para gradualmente convertir datos en ruido, y luego entrenar una red neuronal que aprenda a invertir este proceso paso a paso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5" name="Google Shape;425;g3431281132a_1_4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466" y="3614450"/>
            <a:ext cx="11117069" cy="1881350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30" name="Google Shape;430;g3431281132a_1_4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431281132a_1_42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2" name="Google Shape;432;g3431281132a_1_42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3" name="Google Shape;433;g3431281132a_1_4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8475" y="1822775"/>
            <a:ext cx="7535050" cy="4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431281132a_1_424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5" name="Google Shape;435;g3431281132a_1_424"/>
          <p:cNvSpPr txBox="1"/>
          <p:nvPr/>
        </p:nvSpPr>
        <p:spPr>
          <a:xfrm>
            <a:off x="695325" y="1231525"/>
            <a:ext cx="561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Aprendiendo el paso inverso: U-Net</a:t>
            </a:r>
            <a:endParaRPr b="1" sz="2400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40" name="Google Shape;440;g3431281132a_1_4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431281132a_1_43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2" name="Google Shape;442;g3431281132a_1_43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g3431281132a_1_436"/>
          <p:cNvSpPr txBox="1"/>
          <p:nvPr/>
        </p:nvSpPr>
        <p:spPr>
          <a:xfrm>
            <a:off x="695325" y="768450"/>
            <a:ext cx="7800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4" name="Google Shape;444;g3431281132a_1_436"/>
          <p:cNvSpPr txBox="1"/>
          <p:nvPr/>
        </p:nvSpPr>
        <p:spPr>
          <a:xfrm>
            <a:off x="695325" y="1231525"/>
            <a:ext cx="561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Aprendiendo el paso inverso: U-Net</a:t>
            </a:r>
            <a:endParaRPr b="1" sz="2400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5" name="Google Shape;445;g3431281132a_1_4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5213" y="1913422"/>
            <a:ext cx="5861574" cy="39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50" name="Google Shape;450;g3431281132a_1_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431281132a_1_350"/>
          <p:cNvSpPr txBox="1"/>
          <p:nvPr/>
        </p:nvSpPr>
        <p:spPr>
          <a:xfrm>
            <a:off x="695325" y="1784836"/>
            <a:ext cx="47352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Comparando modelos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2" name="Google Shape;452;g3431281132a_1_350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learning trilemma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g3431281132a_1_350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4" name="Google Shape;454;g3431281132a_1_350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5" name="Google Shape;455;g3431281132a_1_3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975" y="1141225"/>
            <a:ext cx="5496202" cy="49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431281132a_1_350"/>
          <p:cNvSpPr txBox="1"/>
          <p:nvPr/>
        </p:nvSpPr>
        <p:spPr>
          <a:xfrm>
            <a:off x="2427450" y="5466650"/>
            <a:ext cx="42924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ACKLING THE 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G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ENERATIVE 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EARNING 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RILEMMA</a:t>
            </a:r>
            <a:endParaRPr sz="10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WITH 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ENOISING 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D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IFFUSION 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GAN</a:t>
            </a:r>
            <a:r>
              <a:rPr lang="es-ES" sz="1050"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https://arxiv.org/pdf/2112.07804</a:t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61" name="Google Shape;461;g3431281132a_1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431281132a_1_450"/>
          <p:cNvSpPr txBox="1"/>
          <p:nvPr/>
        </p:nvSpPr>
        <p:spPr>
          <a:xfrm>
            <a:off x="695325" y="1784836"/>
            <a:ext cx="47352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Comparando modelos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g3431281132a_1_450"/>
          <p:cNvSpPr txBox="1"/>
          <p:nvPr/>
        </p:nvSpPr>
        <p:spPr>
          <a:xfrm>
            <a:off x="695325" y="2247900"/>
            <a:ext cx="4741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Cómo evalúo la calidad</a:t>
            </a:r>
            <a:endParaRPr b="1" i="0" sz="24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g3431281132a_1_450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5" name="Google Shape;465;g3431281132a_1_450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6" name="Google Shape;466;g3431281132a_1_450"/>
          <p:cNvSpPr txBox="1"/>
          <p:nvPr/>
        </p:nvSpPr>
        <p:spPr>
          <a:xfrm>
            <a:off x="695325" y="3056225"/>
            <a:ext cx="67449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Fréchet inception distance (FID): Métrica para comparar la calidad de las imágenes creadas por un modelo generativo. 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Compara la distribución de las imágenes generadas con las del dataset original utilizando representaciones de un modelo auxiliar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(VGG x ejemplo).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Detecta overfitting, mide 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diversidad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y realismo en un conjunto.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7" name="Google Shape;467;g3431281132a_1_450"/>
          <p:cNvSpPr txBox="1"/>
          <p:nvPr/>
        </p:nvSpPr>
        <p:spPr>
          <a:xfrm>
            <a:off x="7923725" y="2771575"/>
            <a:ext cx="3818700" cy="2693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📊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 ¿Qué indica el FID?</a:t>
            </a:r>
            <a:endParaRPr b="1"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Cuanto menor es el FID, mejor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b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Un FID más bajo indica que las imágenes generadas tienen una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distribución de características más parecida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a las reales.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entury Gothic"/>
              <a:buChar char="●"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FID = 0: distribución idéntica (ideal, pero prácticamente imposible)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72" name="Google Shape;472;g3431281132a_1_4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431281132a_1_465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g3431281132a_1_465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5" name="Google Shape;475;g3431281132a_1_465"/>
          <p:cNvSpPr txBox="1"/>
          <p:nvPr/>
        </p:nvSpPr>
        <p:spPr>
          <a:xfrm>
            <a:off x="695325" y="768450"/>
            <a:ext cx="9596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Comparación - Fréchet inception distance [Imagenet]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76" name="Google Shape;476;g3431281132a_1_4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7000" y="1222050"/>
            <a:ext cx="6882949" cy="485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81" name="Google Shape;481;g3431281132a_1_4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431281132a_1_475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g3431281132a_1_475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g3431281132a_1_475"/>
          <p:cNvSpPr txBox="1"/>
          <p:nvPr/>
        </p:nvSpPr>
        <p:spPr>
          <a:xfrm>
            <a:off x="695325" y="768450"/>
            <a:ext cx="9596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Comparación - Fréchet inception distance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[FFHQ]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5" name="Google Shape;485;g3431281132a_1_4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2400" y="1228575"/>
            <a:ext cx="5519899" cy="50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90" name="Google Shape;490;g3431281132a_1_4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431281132a_1_48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g3431281132a_1_48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3" name="Google Shape;493;g3431281132a_1_484"/>
          <p:cNvSpPr txBox="1"/>
          <p:nvPr/>
        </p:nvSpPr>
        <p:spPr>
          <a:xfrm>
            <a:off x="695325" y="768450"/>
            <a:ext cx="9596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Comparación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494" name="Google Shape;494;g3431281132a_1_484"/>
          <p:cNvGraphicFramePr/>
          <p:nvPr/>
        </p:nvGraphicFramePr>
        <p:xfrm>
          <a:off x="2236500" y="2265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{9E92416B-BA16-4210-8180-5A9C1A8FCF06}</a:tableStyleId>
              </a:tblPr>
              <a:tblGrid>
                <a:gridCol w="1929750"/>
                <a:gridCol w="1929750"/>
                <a:gridCol w="1929750"/>
                <a:gridCol w="1929750"/>
              </a:tblGrid>
              <a:tr h="947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Velocidad generación imagen</a:t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Calidad imagen</a:t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Distribución imagenes generadas</a:t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1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VAEs</a:t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Rápida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Alta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1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GANs</a:t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Rápida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Alta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1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Difusión</a:t>
                      </a:r>
                      <a:endParaRPr b="1"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Lenta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Alta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Alta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499" name="Google Shape;499;g3431281132a_1_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431281132a_1_501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Latent Diffusion (Abril, 2022)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1" name="Google Shape;501;g3431281132a_1_50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2" name="Google Shape;502;g3431281132a_1_50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3" name="Google Shape;503;g3431281132a_1_501"/>
          <p:cNvSpPr txBox="1"/>
          <p:nvPr/>
        </p:nvSpPr>
        <p:spPr>
          <a:xfrm>
            <a:off x="695325" y="2355625"/>
            <a:ext cx="67449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Combinan ideas de Autoencoders y difusión para generar imágenes, con muchos menos recursos. Se aplica el proceso de difusión en el espacio latente comprimido.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4" name="Google Shape;504;g3431281132a_1_5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9600" y="2941525"/>
            <a:ext cx="3912100" cy="33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09" name="Google Shape;509;g3431281132a_1_5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431281132a_1_511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Stable Diffusion (Latent Diffusion)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1" name="Google Shape;511;g3431281132a_1_51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2" name="Google Shape;512;g3431281132a_1_51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g3431281132a_1_511"/>
          <p:cNvSpPr txBox="1"/>
          <p:nvPr/>
        </p:nvSpPr>
        <p:spPr>
          <a:xfrm>
            <a:off x="695325" y="2355625"/>
            <a:ext cx="67449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Arquitectura generativa compuesta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, que entrena 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modelo de difusión en el espacio latente de un autoencoder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que fue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pre-entrenado mediante el esquema competitivo de una GAN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Es la más popular y más usada en el mundo actualmente.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14" name="Google Shape;514;g3431281132a_1_5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375" y="2087600"/>
            <a:ext cx="3979974" cy="397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19" name="Google Shape;519;g3431281132a_1_5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g3431281132a_1_536"/>
          <p:cNvSpPr txBox="1"/>
          <p:nvPr/>
        </p:nvSpPr>
        <p:spPr>
          <a:xfrm>
            <a:off x="695325" y="1784825"/>
            <a:ext cx="8471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Stable Diffusion (Latent Diffusion)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1" name="Google Shape;521;g3431281132a_1_536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2" name="Google Shape;522;g3431281132a_1_536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3" name="Google Shape;523;g3431281132a_1_536"/>
          <p:cNvSpPr txBox="1"/>
          <p:nvPr/>
        </p:nvSpPr>
        <p:spPr>
          <a:xfrm>
            <a:off x="695325" y="2355625"/>
            <a:ext cx="67449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Arquitectura generativa compuesta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, que entrena 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modelo de difusión en el espacio latente de un autoencoder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que fue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pre-entrenado mediante el esquema competitivo de una GAN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VAE + U-Net con cross-attention + Text encoder (CLIP)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24" name="Google Shape;524;g3431281132a_1_536"/>
          <p:cNvGrpSpPr/>
          <p:nvPr/>
        </p:nvGrpSpPr>
        <p:grpSpPr>
          <a:xfrm>
            <a:off x="2010850" y="3752425"/>
            <a:ext cx="8170300" cy="2122925"/>
            <a:chOff x="2010850" y="3828625"/>
            <a:chExt cx="8170300" cy="2122925"/>
          </a:xfrm>
        </p:grpSpPr>
        <p:sp>
          <p:nvSpPr>
            <p:cNvPr id="525" name="Google Shape;525;g3431281132a_1_536"/>
            <p:cNvSpPr/>
            <p:nvPr/>
          </p:nvSpPr>
          <p:spPr>
            <a:xfrm rot="5400000">
              <a:off x="3549738" y="4535850"/>
              <a:ext cx="1361100" cy="1470300"/>
            </a:xfrm>
            <a:prstGeom prst="trapezoid">
              <a:avLst>
                <a:gd fmla="val 25000" name="adj"/>
              </a:avLst>
            </a:prstGeom>
            <a:solidFill>
              <a:srgbClr val="B6D7A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3431281132a_1_536"/>
            <p:cNvSpPr/>
            <p:nvPr/>
          </p:nvSpPr>
          <p:spPr>
            <a:xfrm rot="-5400000">
              <a:off x="7285080" y="4535850"/>
              <a:ext cx="1361100" cy="1470300"/>
            </a:xfrm>
            <a:prstGeom prst="trapezoid">
              <a:avLst>
                <a:gd fmla="val 25000" name="adj"/>
              </a:avLst>
            </a:prstGeom>
            <a:solidFill>
              <a:srgbClr val="B4A7D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7" name="Google Shape;527;g3431281132a_1_5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0850" y="4785125"/>
              <a:ext cx="842371" cy="863757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28" name="Google Shape;528;g3431281132a_1_5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338779" y="4785125"/>
              <a:ext cx="842371" cy="863757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29" name="Google Shape;529;g3431281132a_1_536"/>
            <p:cNvSpPr/>
            <p:nvPr/>
          </p:nvSpPr>
          <p:spPr>
            <a:xfrm rot="5400000">
              <a:off x="5181418" y="5129110"/>
              <a:ext cx="842400" cy="175800"/>
            </a:xfrm>
            <a:prstGeom prst="rect">
              <a:avLst/>
            </a:prstGeom>
            <a:solidFill>
              <a:srgbClr val="EFEFE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" name="Google Shape;530;g3431281132a_1_536"/>
            <p:cNvCxnSpPr/>
            <p:nvPr/>
          </p:nvCxnSpPr>
          <p:spPr>
            <a:xfrm>
              <a:off x="2974933" y="5211097"/>
              <a:ext cx="405600" cy="3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1" name="Google Shape;531;g3431281132a_1_536"/>
            <p:cNvCxnSpPr/>
            <p:nvPr/>
          </p:nvCxnSpPr>
          <p:spPr>
            <a:xfrm>
              <a:off x="8817061" y="5211097"/>
              <a:ext cx="405600" cy="3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2" name="Google Shape;532;g3431281132a_1_536"/>
            <p:cNvCxnSpPr/>
            <p:nvPr/>
          </p:nvCxnSpPr>
          <p:spPr>
            <a:xfrm>
              <a:off x="5100476" y="5210469"/>
              <a:ext cx="279300" cy="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3" name="Google Shape;533;g3431281132a_1_536"/>
            <p:cNvSpPr/>
            <p:nvPr/>
          </p:nvSpPr>
          <p:spPr>
            <a:xfrm rot="5400000">
              <a:off x="5562418" y="5129110"/>
              <a:ext cx="842400" cy="175800"/>
            </a:xfrm>
            <a:prstGeom prst="rect">
              <a:avLst/>
            </a:prstGeom>
            <a:solidFill>
              <a:srgbClr val="D9D9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431281132a_1_536"/>
            <p:cNvSpPr/>
            <p:nvPr/>
          </p:nvSpPr>
          <p:spPr>
            <a:xfrm rot="5400000">
              <a:off x="5943418" y="5125160"/>
              <a:ext cx="842400" cy="175800"/>
            </a:xfrm>
            <a:prstGeom prst="rect">
              <a:avLst/>
            </a:prstGeom>
            <a:solidFill>
              <a:srgbClr val="C9DAF8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431281132a_1_536"/>
            <p:cNvSpPr/>
            <p:nvPr/>
          </p:nvSpPr>
          <p:spPr>
            <a:xfrm rot="5400000">
              <a:off x="6324418" y="5125160"/>
              <a:ext cx="842400" cy="175800"/>
            </a:xfrm>
            <a:prstGeom prst="rect">
              <a:avLst/>
            </a:prstGeom>
            <a:solidFill>
              <a:srgbClr val="A4C2F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6" name="Google Shape;536;g3431281132a_1_536"/>
            <p:cNvCxnSpPr/>
            <p:nvPr/>
          </p:nvCxnSpPr>
          <p:spPr>
            <a:xfrm>
              <a:off x="6892351" y="5268294"/>
              <a:ext cx="279300" cy="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7" name="Google Shape;537;g3431281132a_1_536"/>
            <p:cNvCxnSpPr>
              <a:stCxn id="529" idx="0"/>
              <a:endCxn id="533" idx="2"/>
            </p:cNvCxnSpPr>
            <p:nvPr/>
          </p:nvCxnSpPr>
          <p:spPr>
            <a:xfrm>
              <a:off x="5690518" y="5217010"/>
              <a:ext cx="205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8" name="Google Shape;538;g3431281132a_1_536"/>
            <p:cNvCxnSpPr>
              <a:stCxn id="533" idx="0"/>
              <a:endCxn id="534" idx="2"/>
            </p:cNvCxnSpPr>
            <p:nvPr/>
          </p:nvCxnSpPr>
          <p:spPr>
            <a:xfrm flipH="1" rot="10800000">
              <a:off x="6071518" y="5213110"/>
              <a:ext cx="205200" cy="3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9" name="Google Shape;539;g3431281132a_1_536"/>
            <p:cNvCxnSpPr>
              <a:stCxn id="534" idx="0"/>
              <a:endCxn id="535" idx="2"/>
            </p:cNvCxnSpPr>
            <p:nvPr/>
          </p:nvCxnSpPr>
          <p:spPr>
            <a:xfrm>
              <a:off x="6452518" y="5213060"/>
              <a:ext cx="2052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0" name="Google Shape;540;g3431281132a_1_536"/>
            <p:cNvSpPr/>
            <p:nvPr/>
          </p:nvSpPr>
          <p:spPr>
            <a:xfrm>
              <a:off x="5440550" y="3828625"/>
              <a:ext cx="1455600" cy="660900"/>
            </a:xfrm>
            <a:prstGeom prst="rect">
              <a:avLst/>
            </a:prstGeom>
            <a:solidFill>
              <a:srgbClr val="FFD966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Difusión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1" name="Google Shape;541;g3431281132a_1_536"/>
            <p:cNvCxnSpPr>
              <a:stCxn id="540" idx="2"/>
            </p:cNvCxnSpPr>
            <p:nvPr/>
          </p:nvCxnSpPr>
          <p:spPr>
            <a:xfrm flipH="1">
              <a:off x="6156350" y="4489525"/>
              <a:ext cx="12000" cy="246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46" name="Google Shape;546;g3431281132a_1_5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431281132a_1_563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8" name="Google Shape;548;g3431281132a_1_563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49" name="Google Shape;549;g3431281132a_1_5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1679050"/>
            <a:ext cx="80962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431281132a_1_563"/>
          <p:cNvSpPr txBox="1"/>
          <p:nvPr/>
        </p:nvSpPr>
        <p:spPr>
          <a:xfrm>
            <a:off x="695325" y="768450"/>
            <a:ext cx="9596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Stable Diffusion (Latent Diffusion)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55" name="Google Shape;555;g3431281132a_1_5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431281132a_1_59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7" name="Google Shape;557;g3431281132a_1_59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8" name="Google Shape;558;g3431281132a_1_591"/>
          <p:cNvSpPr txBox="1"/>
          <p:nvPr/>
        </p:nvSpPr>
        <p:spPr>
          <a:xfrm>
            <a:off x="695325" y="768450"/>
            <a:ext cx="9596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Stable Diffusion (Latent Diffusion)</a:t>
            </a:r>
            <a:endParaRPr b="1" sz="3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9" name="Google Shape;559;g3431281132a_1_591"/>
          <p:cNvSpPr txBox="1"/>
          <p:nvPr/>
        </p:nvSpPr>
        <p:spPr>
          <a:xfrm>
            <a:off x="2397850" y="1756425"/>
            <a:ext cx="6423900" cy="3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Flujo de trabajo de Stable Diffusion:</a:t>
            </a:r>
            <a:endParaRPr b="1"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Un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prompt textual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es codificado como vector por un modelo de lenguaje (por ejemplo CLIP Text Encoder).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Century Gothic"/>
              <a:buAutoNum type="arabicPeriod"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Se genera un vector de ruido en el espacio latente.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Century Gothic"/>
              <a:buAutoNum type="arabicPeriod"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A través de múltiples pasos de difusión inversa (denoising), el modelo refina ese ruido hacia una representación latente coherente, condicionada por el texto.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SzPts val="1500"/>
              <a:buFont typeface="Century Gothic"/>
              <a:buAutoNum type="arabicPeriod"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Finalmente, el decoder del VAE convierte el resultado latente en una imagen.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64" name="Google Shape;5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"/>
          <p:cNvSpPr txBox="1"/>
          <p:nvPr/>
        </p:nvSpPr>
        <p:spPr>
          <a:xfrm>
            <a:off x="695325" y="870436"/>
            <a:ext cx="47352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Usos en la industria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6" name="Google Shape;566;p3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7" name="Google Shape;567;p3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68" name="Google Shape;5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600" y="2881663"/>
            <a:ext cx="84391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"/>
          <p:cNvSpPr txBox="1"/>
          <p:nvPr/>
        </p:nvSpPr>
        <p:spPr>
          <a:xfrm>
            <a:off x="1489275" y="5475150"/>
            <a:ext cx="8341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i="0" lang="es-ES" sz="125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DatasetGAN: Efficient Labeled Data Factory with Minimal Human Effort</a:t>
            </a:r>
            <a:endParaRPr i="0" sz="7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0" name="Google Shape;570;p3"/>
          <p:cNvSpPr txBox="1"/>
          <p:nvPr/>
        </p:nvSpPr>
        <p:spPr>
          <a:xfrm>
            <a:off x="1489275" y="5898450"/>
            <a:ext cx="600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ES" sz="1100" u="sng" cap="none" strike="noStrike">
                <a:solidFill>
                  <a:srgbClr val="0097A7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https://nv-tlabs.github.io/datasetGAN/</a:t>
            </a:r>
            <a:endParaRPr i="1" sz="11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1" name="Google Shape;571;p3"/>
          <p:cNvSpPr txBox="1"/>
          <p:nvPr/>
        </p:nvSpPr>
        <p:spPr>
          <a:xfrm>
            <a:off x="695325" y="1377425"/>
            <a:ext cx="86394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Caso: quiero entrenar un clasificador, pero tengo pocos datos, o son de mala calidad.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Solución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data augmentation: 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Un modelo generativo pre-entrenado puede ser </a:t>
            </a:r>
            <a:r>
              <a:rPr i="1" lang="es-ES" sz="1500">
                <a:latin typeface="Century Gothic"/>
                <a:ea typeface="Century Gothic"/>
                <a:cs typeface="Century Gothic"/>
                <a:sym typeface="Century Gothic"/>
              </a:rPr>
              <a:t>fine-tuneado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para generar datos sintéticos de alta calidad, permitiendo así entrenar un modelo competente.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5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76" name="Google Shape;576;g3431281132a_1_6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3431281132a_1_617"/>
          <p:cNvSpPr txBox="1"/>
          <p:nvPr/>
        </p:nvSpPr>
        <p:spPr>
          <a:xfrm>
            <a:off x="695325" y="794236"/>
            <a:ext cx="47352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s-ES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Usos en la industria</a:t>
            </a:r>
            <a:endParaRPr b="1" i="0" sz="30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8" name="Google Shape;578;g3431281132a_1_617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9" name="Google Shape;579;g3431281132a_1_617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0" name="Google Shape;580;g3431281132a_1_617"/>
          <p:cNvSpPr txBox="1"/>
          <p:nvPr/>
        </p:nvSpPr>
        <p:spPr>
          <a:xfrm>
            <a:off x="695325" y="1301225"/>
            <a:ext cx="8639400" cy="4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entury Gothic"/>
              <a:buChar char="●"/>
            </a:pP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Autoencoders y VAES: detección de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anomalías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en imágenes, detectar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defectos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en piezas industriales comparando la reconstrucción con la entrada (si el error es alto, podría indicar una anomalía),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compresión de imágenes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, y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filtro de ruido en imágenes médicas o de cámaras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sistemas de recomendación de contenido visual, sistemas de generación controlable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, por ejemplo generar variantes de rostros a partir de atributos (edad, sonrisa, etc.)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Char char="●"/>
            </a:pP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GANs: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generación de arte y contenido visual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(ej. generar personajes, escenarios, diseños). En videojuegos y cine, pueden ayudar a generar texturas o incluso animaciones de rostros. En fotografía, hay aplicaciones de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foto enhancement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(de blanco y negro a color, fotos antiguas), imágenes sintéticas de resonancias o rayos X para aumentar datos respetando privacidad.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Sintetización de rostros o voces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para crear asistentes virtuales.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Char char="●"/>
            </a:pP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Modelos de difusión: En fotografía y cine, se explora su uso para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restaurar filmaciones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antiguas (remasterización), cambiar rasgos faciales en video (</a:t>
            </a:r>
            <a:r>
              <a:rPr i="1" lang="es-ES">
                <a:latin typeface="Century Gothic"/>
                <a:ea typeface="Century Gothic"/>
                <a:cs typeface="Century Gothic"/>
                <a:sym typeface="Century Gothic"/>
              </a:rPr>
              <a:t>face swap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controlado). En medicina, se investiga su capacidad para </a:t>
            </a: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sintetizar datos médicos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raros (por ejemplo, generar imágenes de tumores poco comunes). Editores gráficos (GIMP, Photoshop) están integrando plugins de Stable Diffusion para generar y editar imágenes por texto.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85" name="Google Shape;5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"/>
          <p:cNvSpPr txBox="1"/>
          <p:nvPr/>
        </p:nvSpPr>
        <p:spPr>
          <a:xfrm>
            <a:off x="695326" y="1784837"/>
            <a:ext cx="3347286" cy="37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s-E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Resumen</a:t>
            </a:r>
            <a:endParaRPr b="1" i="0" sz="24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7" name="Google Shape;587;p4"/>
          <p:cNvSpPr txBox="1"/>
          <p:nvPr/>
        </p:nvSpPr>
        <p:spPr>
          <a:xfrm>
            <a:off x="4443412" y="1533526"/>
            <a:ext cx="1147764" cy="1147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8" name="Google Shape;588;p4"/>
          <p:cNvSpPr txBox="1"/>
          <p:nvPr/>
        </p:nvSpPr>
        <p:spPr>
          <a:xfrm>
            <a:off x="4443412" y="2949568"/>
            <a:ext cx="1147764" cy="11477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9" name="Google Shape;589;p4"/>
          <p:cNvSpPr txBox="1"/>
          <p:nvPr/>
        </p:nvSpPr>
        <p:spPr>
          <a:xfrm>
            <a:off x="4443412" y="4395784"/>
            <a:ext cx="1147764" cy="11477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0" name="Google Shape;590;p4"/>
          <p:cNvSpPr txBox="1"/>
          <p:nvPr/>
        </p:nvSpPr>
        <p:spPr>
          <a:xfrm>
            <a:off x="5591176" y="2949568"/>
            <a:ext cx="5676899" cy="1145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as </a:t>
            </a:r>
            <a:r>
              <a:rPr b="1" lang="es-ES" sz="1300">
                <a:latin typeface="Century Gothic"/>
                <a:ea typeface="Century Gothic"/>
                <a:cs typeface="Century Gothic"/>
                <a:sym typeface="Century Gothic"/>
              </a:rPr>
              <a:t>GANs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 llevaron la calidad visual a otro nivel mediante aprendizaje adversarial</a:t>
            </a:r>
            <a:endParaRPr i="0" sz="13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1" name="Google Shape;591;p4"/>
          <p:cNvSpPr txBox="1"/>
          <p:nvPr/>
        </p:nvSpPr>
        <p:spPr>
          <a:xfrm>
            <a:off x="5591176" y="4395784"/>
            <a:ext cx="5676899" cy="1145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os </a:t>
            </a:r>
            <a:r>
              <a:rPr b="1" lang="es-ES" sz="1300">
                <a:latin typeface="Century Gothic"/>
                <a:ea typeface="Century Gothic"/>
                <a:cs typeface="Century Gothic"/>
                <a:sym typeface="Century Gothic"/>
              </a:rPr>
              <a:t>Modelos de Difusión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 retomaron principios probabilísticos para lograr aun mejor fidelidad (a costo de cómputo). Y finalmente los </a:t>
            </a:r>
            <a:r>
              <a:rPr b="1" lang="es-ES" sz="1300">
                <a:latin typeface="Century Gothic"/>
                <a:ea typeface="Century Gothic"/>
                <a:cs typeface="Century Gothic"/>
                <a:sym typeface="Century Gothic"/>
              </a:rPr>
              <a:t>LDMs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 optimizaron la difusión haciendo viable su uso en aplicaciones cotidianas.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2" name="Google Shape;592;p4"/>
          <p:cNvSpPr txBox="1"/>
          <p:nvPr/>
        </p:nvSpPr>
        <p:spPr>
          <a:xfrm>
            <a:off x="5544303" y="1522870"/>
            <a:ext cx="5676899" cy="1145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os </a:t>
            </a:r>
            <a:r>
              <a:rPr b="1" lang="es-ES" sz="1300">
                <a:latin typeface="Century Gothic"/>
                <a:ea typeface="Century Gothic"/>
                <a:cs typeface="Century Gothic"/>
                <a:sym typeface="Century Gothic"/>
              </a:rPr>
              <a:t>Autoencoders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 introdujeron la idea de compresión y reconstrucción. Los </a:t>
            </a:r>
            <a:r>
              <a:rPr b="1" lang="es-ES" sz="1300">
                <a:latin typeface="Century Gothic"/>
                <a:ea typeface="Century Gothic"/>
                <a:cs typeface="Century Gothic"/>
                <a:sym typeface="Century Gothic"/>
              </a:rPr>
              <a:t>VAEs</a:t>
            </a:r>
            <a:r>
              <a:rPr lang="es-ES" sz="1300">
                <a:latin typeface="Century Gothic"/>
                <a:ea typeface="Century Gothic"/>
                <a:cs typeface="Century Gothic"/>
                <a:sym typeface="Century Gothic"/>
              </a:rPr>
              <a:t> añadieron un marco probabilístico para generación controlada.</a:t>
            </a:r>
            <a:endParaRPr b="1" i="0" sz="13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p4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p4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599" name="Google Shape;599;g3431281132a_1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431281132a_1_521"/>
          <p:cNvSpPr txBox="1"/>
          <p:nvPr/>
        </p:nvSpPr>
        <p:spPr>
          <a:xfrm>
            <a:off x="695326" y="1784837"/>
            <a:ext cx="3347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s-E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Resumen</a:t>
            </a:r>
            <a:endParaRPr b="1" i="0" sz="24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1" name="Google Shape;601;g3431281132a_1_521"/>
          <p:cNvSpPr txBox="1"/>
          <p:nvPr/>
        </p:nvSpPr>
        <p:spPr>
          <a:xfrm>
            <a:off x="4443412" y="1533526"/>
            <a:ext cx="1147800" cy="114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g3431281132a_1_521"/>
          <p:cNvSpPr txBox="1"/>
          <p:nvPr/>
        </p:nvSpPr>
        <p:spPr>
          <a:xfrm>
            <a:off x="4443412" y="2949568"/>
            <a:ext cx="1147800" cy="114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3" name="Google Shape;603;g3431281132a_1_521"/>
          <p:cNvSpPr txBox="1"/>
          <p:nvPr/>
        </p:nvSpPr>
        <p:spPr>
          <a:xfrm>
            <a:off x="4443412" y="4395784"/>
            <a:ext cx="1147800" cy="114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4" name="Google Shape;604;g3431281132a_1_521"/>
          <p:cNvSpPr txBox="1"/>
          <p:nvPr/>
        </p:nvSpPr>
        <p:spPr>
          <a:xfrm>
            <a:off x="5591176" y="2949568"/>
            <a:ext cx="5676900" cy="114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Es un área de constante estudio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sin una arquitectura “ganadora”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 Cada arquitectura tiene sus pro y contras. </a:t>
            </a:r>
            <a:endParaRPr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g3431281132a_1_521"/>
          <p:cNvSpPr txBox="1"/>
          <p:nvPr/>
        </p:nvSpPr>
        <p:spPr>
          <a:xfrm>
            <a:off x="5544303" y="1522870"/>
            <a:ext cx="5676900" cy="114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Los modelos generativos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aprenden a representar distribuciones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6" name="Google Shape;606;g3431281132a_1_521"/>
          <p:cNvSpPr txBox="1"/>
          <p:nvPr/>
        </p:nvSpPr>
        <p:spPr>
          <a:xfrm>
            <a:off x="5591176" y="4395784"/>
            <a:ext cx="5676900" cy="114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Es útil para escenarios en los que quiero entrenar un modelo y tengo pocos datos.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Permite aumentar mi dataset con datos sintéticos de alta calidad.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7" name="Google Shape;607;g3431281132a_1_521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8" name="Google Shape;608;g3431281132a_1_521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Descripción generada automáticamente con confianza media" id="613" name="Google Shape;613;g3431281132a_1_6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g3431281132a_1_637"/>
          <p:cNvSpPr txBox="1"/>
          <p:nvPr/>
        </p:nvSpPr>
        <p:spPr>
          <a:xfrm>
            <a:off x="695326" y="1784837"/>
            <a:ext cx="3347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s-E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Problemas</a:t>
            </a:r>
            <a:endParaRPr b="1" i="0" sz="24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5" name="Google Shape;615;g3431281132a_1_637"/>
          <p:cNvSpPr txBox="1"/>
          <p:nvPr/>
        </p:nvSpPr>
        <p:spPr>
          <a:xfrm>
            <a:off x="4443412" y="1533526"/>
            <a:ext cx="1147800" cy="114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6" name="Google Shape;616;g3431281132a_1_637"/>
          <p:cNvSpPr txBox="1"/>
          <p:nvPr/>
        </p:nvSpPr>
        <p:spPr>
          <a:xfrm>
            <a:off x="4443412" y="2949568"/>
            <a:ext cx="1147800" cy="114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7" name="Google Shape;617;g3431281132a_1_637"/>
          <p:cNvSpPr txBox="1"/>
          <p:nvPr/>
        </p:nvSpPr>
        <p:spPr>
          <a:xfrm>
            <a:off x="4443412" y="4395784"/>
            <a:ext cx="1147800" cy="114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b="1" i="0" sz="3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8" name="Google Shape;618;g3431281132a_1_637"/>
          <p:cNvSpPr txBox="1"/>
          <p:nvPr/>
        </p:nvSpPr>
        <p:spPr>
          <a:xfrm>
            <a:off x="5591176" y="2949568"/>
            <a:ext cx="5676900" cy="114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latin typeface="Century Gothic"/>
                <a:ea typeface="Century Gothic"/>
                <a:cs typeface="Century Gothic"/>
                <a:sym typeface="Century Gothic"/>
              </a:rPr>
              <a:t>Requieren muchos recursos para ser entrenados desde 0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 (mejor usar un modelo de alguna compañía) </a:t>
            </a:r>
            <a:r>
              <a:rPr lang="es-ES" sz="1500">
                <a:solidFill>
                  <a:srgbClr val="D19EFA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💸</a:t>
            </a:r>
            <a:r>
              <a:rPr lang="es-ES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g3431281132a_1_637"/>
          <p:cNvSpPr txBox="1"/>
          <p:nvPr/>
        </p:nvSpPr>
        <p:spPr>
          <a:xfrm>
            <a:off x="5544303" y="1522870"/>
            <a:ext cx="5676900" cy="114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No son útiles para todo tipo de datos;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por ejemplo, datos tabulares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i="0" sz="15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g3431281132a_1_637"/>
          <p:cNvSpPr txBox="1"/>
          <p:nvPr/>
        </p:nvSpPr>
        <p:spPr>
          <a:xfrm>
            <a:off x="5591176" y="4395784"/>
            <a:ext cx="5676900" cy="114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16000" lIns="216000" spcFirstLastPara="1" rIns="216000" wrap="square" tIns="2160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Heredan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los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s-ES" sz="1500">
                <a:latin typeface="Century Gothic"/>
                <a:ea typeface="Century Gothic"/>
                <a:cs typeface="Century Gothic"/>
                <a:sym typeface="Century Gothic"/>
              </a:rPr>
              <a:t>sesgos</a:t>
            </a:r>
            <a:r>
              <a:rPr lang="es-ES" sz="1500">
                <a:latin typeface="Century Gothic"/>
                <a:ea typeface="Century Gothic"/>
                <a:cs typeface="Century Gothic"/>
                <a:sym typeface="Century Gothic"/>
              </a:rPr>
              <a:t> de los datos de entrenamiento.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g3431281132a_1_637"/>
          <p:cNvSpPr txBox="1"/>
          <p:nvPr/>
        </p:nvSpPr>
        <p:spPr>
          <a:xfrm>
            <a:off x="723900" y="6438900"/>
            <a:ext cx="7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Profesora:</a:t>
            </a:r>
            <a:endParaRPr b="1" i="0" sz="100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g3431281132a_1_637"/>
          <p:cNvSpPr txBox="1"/>
          <p:nvPr/>
        </p:nvSpPr>
        <p:spPr>
          <a:xfrm>
            <a:off x="1440611" y="6463727"/>
            <a:ext cx="42528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5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i="0" sz="1050" u="none" cap="none" strike="noStrike">
              <a:solidFill>
                <a:schemeClr val="accent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Sitio web&#10;&#10;Descripción generada automáticamente" id="627" name="Google Shape;627;g3431281132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431281132a_1_0"/>
          <p:cNvSpPr/>
          <p:nvPr/>
        </p:nvSpPr>
        <p:spPr>
          <a:xfrm>
            <a:off x="279918" y="1950098"/>
            <a:ext cx="4767900" cy="340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9" name="Google Shape;629;g3431281132a_1_0"/>
          <p:cNvSpPr/>
          <p:nvPr/>
        </p:nvSpPr>
        <p:spPr>
          <a:xfrm>
            <a:off x="279918" y="1950097"/>
            <a:ext cx="144000" cy="340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0" name="Google Shape;630;g3431281132a_1_0"/>
          <p:cNvSpPr txBox="1"/>
          <p:nvPr/>
        </p:nvSpPr>
        <p:spPr>
          <a:xfrm>
            <a:off x="625149" y="2263802"/>
            <a:ext cx="4077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 Generativos en Visión por Computador</a:t>
            </a:r>
            <a:endParaRPr b="1" i="0" sz="3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1" name="Google Shape;631;g3431281132a_1_0"/>
          <p:cNvSpPr txBox="1"/>
          <p:nvPr/>
        </p:nvSpPr>
        <p:spPr>
          <a:xfrm>
            <a:off x="625149" y="4293536"/>
            <a:ext cx="40776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Profesor:</a:t>
            </a:r>
            <a:br>
              <a:rPr b="1" i="0" lang="es-E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Francisca Cattan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fpcattan@uc.cl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pantalla de un celular con texto e imágenes&#10;&#10;Descripción generada automáticamente" id="636" name="Google Shape;6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EPIUC Profesores">
      <a:dk1>
        <a:srgbClr val="595959"/>
      </a:dk1>
      <a:lt1>
        <a:srgbClr val="FFFFFF"/>
      </a:lt1>
      <a:dk2>
        <a:srgbClr val="44546A"/>
      </a:dk2>
      <a:lt2>
        <a:srgbClr val="E7E6E6"/>
      </a:lt2>
      <a:accent1>
        <a:srgbClr val="0176DE"/>
      </a:accent1>
      <a:accent2>
        <a:srgbClr val="FEC60D"/>
      </a:accent2>
      <a:accent3>
        <a:srgbClr val="173F8A"/>
      </a:accent3>
      <a:accent4>
        <a:srgbClr val="4ACC33"/>
      </a:accent4>
      <a:accent5>
        <a:srgbClr val="FFA412"/>
      </a:accent5>
      <a:accent6>
        <a:srgbClr val="0B7A7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2023-12-12T16:47:19Z</dcterms:created>
  <dc:creator>Carlos Andres Carrera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0x0101000B4F0AA2D2D35848A6D260B1FB64537D</vt:lpwstr>
  </property>
  <property fmtid="{D5CDD505-2E9C-101B-9397-08002B2CF9AE}" pid="3" name="MediaServiceImageTags">
    <vt:lpwstr/>
  </property>
</Properties>
</file>